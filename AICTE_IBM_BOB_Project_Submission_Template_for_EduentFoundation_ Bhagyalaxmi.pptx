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10" r:id="rId16"/>
    <p:sldId id="311" r:id="rId17"/>
    <p:sldId id="312" r:id="rId18"/>
    <p:sldId id="313" r:id="rId19"/>
    <p:sldId id="314" r:id="rId20"/>
    <p:sldId id="315" r:id="rId21"/>
    <p:sldId id="316" r:id="rId22"/>
    <p:sldId id="317" r:id="rId23"/>
    <p:sldId id="318" r:id="rId24"/>
    <p:sldId id="304" r:id="rId25"/>
    <p:sldId id="305" r:id="rId26"/>
    <p:sldId id="306" r:id="rId27"/>
    <p:sldId id="307" r:id="rId28"/>
    <p:sldId id="308" r:id="rId29"/>
    <p:sldId id="309"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325bhagyalaxmi-lang/Agentic_career_counselling_companion"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5419970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530257">
                  <a:extLst>
                    <a:ext uri="{9D8B030D-6E8A-4147-A177-3AD203B41FA5}">
                      <a16:colId xmlns:a16="http://schemas.microsoft.com/office/drawing/2014/main" val="20003"/>
                    </a:ext>
                  </a:extLst>
                </a:gridCol>
                <a:gridCol w="2356491">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Bhagyalaxmi Gudimella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325bhagyalaxmi@gmail.com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9869157606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[Agentic Career Counseling Companion]</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2B224A66-0535-AD34-2158-FEAA66DD46A7}"/>
              </a:ext>
            </a:extLst>
          </p:cNvPr>
          <p:cNvPicPr>
            <a:picLocks noChangeAspect="1"/>
          </p:cNvPicPr>
          <p:nvPr/>
        </p:nvPicPr>
        <p:blipFill>
          <a:blip r:embed="rId3"/>
          <a:stretch>
            <a:fillRect/>
          </a:stretch>
        </p:blipFill>
        <p:spPr>
          <a:xfrm>
            <a:off x="4022309" y="3729395"/>
            <a:ext cx="994143" cy="917016"/>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pPr fontAlgn="base"/>
            <a:r>
              <a:rPr lang="en-US" b="1" dirty="0"/>
              <a:t>Problem Statement  </a:t>
            </a:r>
            <a:r>
              <a:rPr lang="en-US" dirty="0"/>
              <a:t>– Agentic Career Counseling Companion The Challenge – Students often struggle to make informed career decisions due to fragmented access to guidance, limited self-awareness of academic strengths, and rapidly evolving industry landscapes. Traditional counseling methods lack personalization and scalability, leading to missed opportunities and career mismatches. The challenge is to develop an intelligent, autonomous agent that continuously monitors student performance, evolving interests, and real-time labor market trends to deliver tailored career pathway suggestions. This would empower students to make confident, future-ready decisions with minimal dependency on manual intervention. </a:t>
            </a:r>
          </a:p>
          <a:p>
            <a:pPr fontAlgn="base"/>
            <a:endParaRPr lang="en-US" dirty="0"/>
          </a:p>
          <a:p>
            <a:pPr fontAlgn="base"/>
            <a:r>
              <a:rPr lang="en-US" b="1" dirty="0"/>
              <a:t>The Objective</a:t>
            </a:r>
            <a:r>
              <a:rPr lang="en-US" dirty="0"/>
              <a:t> </a:t>
            </a:r>
          </a:p>
          <a:p>
            <a:pPr fontAlgn="base"/>
            <a:r>
              <a:rPr lang="en-US" dirty="0"/>
              <a:t>Build an </a:t>
            </a:r>
            <a:r>
              <a:rPr lang="en-US" b="1" dirty="0"/>
              <a:t>AI-powered Agentic Career Counseling Companion</a:t>
            </a:r>
            <a:r>
              <a:rPr lang="en-US" dirty="0"/>
              <a:t> that delivers personalized career guidance and future-ready recommendations for students, graduates, and career counselors. The solution should:</a:t>
            </a:r>
          </a:p>
          <a:p>
            <a:pPr fontAlgn="base"/>
            <a:endParaRPr lang="en-US" dirty="0"/>
          </a:p>
          <a:p>
            <a:pPr marL="285750" indent="-285750" fontAlgn="base">
              <a:buFont typeface="Arial" panose="020B0604020202020204" pitchFamily="34" charset="0"/>
              <a:buChar char="•"/>
            </a:pPr>
            <a:r>
              <a:rPr lang="en-US" b="1" dirty="0"/>
              <a:t>Personalized Career Paths </a:t>
            </a:r>
            <a:r>
              <a:rPr lang="en-US" dirty="0"/>
              <a:t>– Recommend careers based on skills, academic performance, interests, and goals.</a:t>
            </a:r>
          </a:p>
          <a:p>
            <a:pPr marL="285750" indent="-285750" fontAlgn="base">
              <a:buFont typeface="Arial" panose="020B0604020202020204" pitchFamily="34" charset="0"/>
              <a:buChar char="•"/>
            </a:pPr>
            <a:r>
              <a:rPr lang="en-US" b="1" dirty="0"/>
              <a:t>Career Data RAG Retrieval</a:t>
            </a:r>
            <a:r>
              <a:rPr lang="en-US" dirty="0"/>
              <a:t> -- Fetch job trends, required skills, and certification details from reliable sources.. </a:t>
            </a:r>
          </a:p>
          <a:p>
            <a:pPr marL="285750" indent="-285750" fontAlgn="base">
              <a:buFont typeface="Arial" panose="020B0604020202020204" pitchFamily="34" charset="0"/>
              <a:buChar char="•"/>
            </a:pPr>
            <a:r>
              <a:rPr lang="en-US" b="1" dirty="0"/>
              <a:t>Skill Gap Analysis </a:t>
            </a:r>
            <a:r>
              <a:rPr lang="en-US" dirty="0"/>
              <a:t>– Suggest courses, projects, and internships to improve career readiness.</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Career Knowledge Agent</a:t>
            </a:r>
            <a:r>
              <a:rPr lang="en-US" dirty="0"/>
              <a:t> (fetches Career and job data) </a:t>
            </a:r>
          </a:p>
          <a:p>
            <a:pPr marL="285750" indent="-285750" fontAlgn="base">
              <a:buFont typeface="Arial" panose="020B0604020202020204" pitchFamily="34" charset="0"/>
              <a:buChar char="•"/>
            </a:pPr>
            <a:r>
              <a:rPr lang="en-US" b="1" dirty="0"/>
              <a:t>Career Recommendation Agent</a:t>
            </a:r>
            <a:r>
              <a:rPr lang="en-US" dirty="0"/>
              <a:t> (suggests personalized career paths) </a:t>
            </a:r>
          </a:p>
          <a:p>
            <a:pPr marL="285750" indent="-285750" fontAlgn="base">
              <a:buFont typeface="Arial" panose="020B0604020202020204" pitchFamily="34" charset="0"/>
              <a:buChar char="•"/>
            </a:pPr>
            <a:r>
              <a:rPr lang="en-US" b="1" dirty="0"/>
              <a:t>Skill </a:t>
            </a:r>
            <a:r>
              <a:rPr lang="en-US" b="1" dirty="0" err="1"/>
              <a:t>Developement</a:t>
            </a:r>
            <a:r>
              <a:rPr lang="en-US" b="1" dirty="0"/>
              <a:t> Agent</a:t>
            </a:r>
            <a:r>
              <a:rPr lang="en-US" dirty="0"/>
              <a:t> (recommends learning resources)</a:t>
            </a:r>
          </a:p>
          <a:p>
            <a:pPr marL="285750" indent="-285750" fontAlgn="base">
              <a:buFont typeface="Arial" panose="020B0604020202020204" pitchFamily="34" charset="0"/>
              <a:buChar char="•"/>
            </a:pPr>
            <a:r>
              <a:rPr lang="en-US" b="1" dirty="0"/>
              <a:t>Visualization Dashboard </a:t>
            </a:r>
            <a:r>
              <a:rPr lang="en-US" dirty="0"/>
              <a:t>– Show career readiness, skill progress, and recommended roadmap.</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832092"/>
          </a:xfrm>
          <a:prstGeom prst="rect">
            <a:avLst/>
          </a:prstGeom>
          <a:noFill/>
        </p:spPr>
        <p:txBody>
          <a:bodyPr wrap="square" rtlCol="0">
            <a:spAutoFit/>
          </a:bodyPr>
          <a:lstStyle/>
          <a:p>
            <a:pPr fontAlgn="base"/>
            <a:endParaRPr lang="en-US" b="1" dirty="0"/>
          </a:p>
          <a:p>
            <a:r>
              <a:rPr lang="en-US" b="1" dirty="0"/>
              <a:t>Proposed Solution: AI-Powered Agentic Career Counseling Companion</a:t>
            </a:r>
          </a:p>
          <a:p>
            <a:r>
              <a:rPr lang="en-US" dirty="0"/>
              <a:t>The proposed solution is a </a:t>
            </a:r>
            <a:r>
              <a:rPr lang="en-US" b="1" dirty="0"/>
              <a:t>multi-agent AI-powered Career Counseling Companion </a:t>
            </a:r>
            <a:r>
              <a:rPr lang="en-US" dirty="0"/>
              <a:t>built using </a:t>
            </a:r>
            <a:r>
              <a:rPr lang="en-US" b="1" dirty="0"/>
              <a:t>IBM Bob, IBM watsonx.ai, and Granite Models</a:t>
            </a:r>
            <a:r>
              <a:rPr lang="en-US" dirty="0"/>
              <a:t> to provide personalized, real-time career guidance. The system addresses challenges in career planning, skill development, and job readiness through an intelligent, modular architecture.</a:t>
            </a:r>
          </a:p>
          <a:p>
            <a:r>
              <a:rPr lang="en-US" dirty="0"/>
              <a:t>At its core, the solution uses a </a:t>
            </a:r>
            <a:r>
              <a:rPr lang="en-US" b="1" dirty="0"/>
              <a:t>Retrieval-Augmented Generation (RAG) </a:t>
            </a:r>
            <a:r>
              <a:rPr lang="en-US" dirty="0"/>
              <a:t>pipeline to fetch accurate career information from trusted sources such as job portals, industry reports, and learning platforms. This data is stored in a vector database, enabling the system to retrieve and summarize career trends, required skills, certifications, and job opportunities using Granite models.</a:t>
            </a:r>
          </a:p>
          <a:p>
            <a:r>
              <a:rPr lang="en-US" dirty="0"/>
              <a:t>The system consists of four key agents:</a:t>
            </a:r>
          </a:p>
          <a:p>
            <a:pPr lvl="0"/>
            <a:r>
              <a:rPr lang="en-US" b="1" dirty="0"/>
              <a:t>Career Knowledge Agent </a:t>
            </a:r>
            <a:r>
              <a:rPr lang="en-US" dirty="0"/>
              <a:t>retrieves and summarizes career and industry information using RAG.</a:t>
            </a:r>
          </a:p>
          <a:p>
            <a:pPr lvl="0"/>
            <a:r>
              <a:rPr lang="en-US" b="1" dirty="0"/>
              <a:t>Career Recommendation Agent </a:t>
            </a:r>
            <a:r>
              <a:rPr lang="en-US" dirty="0"/>
              <a:t>suggests personalized career paths based on academic performance, skills, interests, and goals.</a:t>
            </a:r>
          </a:p>
          <a:p>
            <a:pPr lvl="0"/>
            <a:r>
              <a:rPr lang="en-US" b="1" dirty="0"/>
              <a:t>Skill Development Agent </a:t>
            </a:r>
            <a:r>
              <a:rPr lang="en-US" dirty="0"/>
              <a:t>identifies skill gaps and recommends courses, certifications, projects, and internships.</a:t>
            </a:r>
          </a:p>
          <a:p>
            <a:pPr lvl="0"/>
            <a:r>
              <a:rPr lang="en-US" b="1" dirty="0"/>
              <a:t>Progress Tracking Agent </a:t>
            </a:r>
            <a:r>
              <a:rPr lang="en-US" dirty="0"/>
              <a:t>monitors student achievements and provides continuous feedback with updated career recommendations.</a:t>
            </a:r>
          </a:p>
          <a:p>
            <a:r>
              <a:rPr lang="en-US" dirty="0"/>
              <a:t>The solution includes </a:t>
            </a:r>
            <a:r>
              <a:rPr lang="en-US" b="1" dirty="0"/>
              <a:t>a user-friendly dashboard </a:t>
            </a:r>
            <a:r>
              <a:rPr lang="en-US" dirty="0"/>
              <a:t>(built with </a:t>
            </a:r>
            <a:r>
              <a:rPr lang="en-US" dirty="0" err="1"/>
              <a:t>Streamlit</a:t>
            </a:r>
            <a:r>
              <a:rPr lang="en-US" dirty="0"/>
              <a:t> or React) that visualizes skill progress, career readiness, recommended learning roadmaps, and industry trends.</a:t>
            </a:r>
          </a:p>
          <a:p>
            <a:r>
              <a:rPr lang="en-US" dirty="0"/>
              <a:t>IBM Bob orchestrates agent workflows, while </a:t>
            </a:r>
            <a:r>
              <a:rPr lang="en-US" b="1" dirty="0"/>
              <a:t>watsonx.a</a:t>
            </a:r>
            <a:r>
              <a:rPr lang="en-US" dirty="0"/>
              <a:t>i enables scalable model deployment, embeddings, and AI governance. </a:t>
            </a:r>
            <a:r>
              <a:rPr lang="en-US" b="1" dirty="0"/>
              <a:t>Granite Models </a:t>
            </a:r>
            <a:r>
              <a:rPr lang="en-US" dirty="0"/>
              <a:t>power reasoning, summarization, and personalized career recommendations.</a:t>
            </a:r>
          </a:p>
          <a:p>
            <a:r>
              <a:rPr lang="en-US" dirty="0"/>
              <a:t>Overall, this solution delivers </a:t>
            </a:r>
            <a:r>
              <a:rPr lang="en-US" b="1" dirty="0"/>
              <a:t>an end-to-end intelligent career counseling assistant </a:t>
            </a:r>
            <a:r>
              <a:rPr lang="en-US" dirty="0"/>
              <a:t>that helps students make informed, future-ready career decisions with personalized guidance and real-time insights.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4E0E6648-9FFC-4C96-9348-DAFAA5E34956}"/>
              </a:ext>
            </a:extLst>
          </p:cNvPr>
          <p:cNvPicPr>
            <a:picLocks noChangeAspect="1"/>
          </p:cNvPicPr>
          <p:nvPr/>
        </p:nvPicPr>
        <p:blipFill>
          <a:blip r:embed="rId3"/>
          <a:stretch>
            <a:fillRect/>
          </a:stretch>
        </p:blipFill>
        <p:spPr>
          <a:xfrm>
            <a:off x="792480" y="863187"/>
            <a:ext cx="10509504" cy="5806000"/>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7" name="Picture 6">
            <a:extLst>
              <a:ext uri="{FF2B5EF4-FFF2-40B4-BE49-F238E27FC236}">
                <a16:creationId xmlns:a16="http://schemas.microsoft.com/office/drawing/2014/main" id="{CBCC5445-407B-DB26-57CF-66859204B69D}"/>
              </a:ext>
            </a:extLst>
          </p:cNvPr>
          <p:cNvPicPr>
            <a:picLocks noChangeAspect="1"/>
          </p:cNvPicPr>
          <p:nvPr/>
        </p:nvPicPr>
        <p:blipFill>
          <a:blip r:embed="rId3"/>
          <a:stretch>
            <a:fillRect/>
          </a:stretch>
        </p:blipFill>
        <p:spPr>
          <a:xfrm>
            <a:off x="537590" y="862768"/>
            <a:ext cx="10877662" cy="5793107"/>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A38B80-B7BD-D8BA-8351-73C81B6F2F20}"/>
              </a:ext>
            </a:extLst>
          </p:cNvPr>
          <p:cNvPicPr>
            <a:picLocks noChangeAspect="1"/>
          </p:cNvPicPr>
          <p:nvPr/>
        </p:nvPicPr>
        <p:blipFill>
          <a:blip r:embed="rId2"/>
          <a:stretch>
            <a:fillRect/>
          </a:stretch>
        </p:blipFill>
        <p:spPr>
          <a:xfrm>
            <a:off x="560439" y="356914"/>
            <a:ext cx="10756490" cy="5706152"/>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2384F52D-B6FA-2867-0BFF-9FA61707A9A0}"/>
              </a:ext>
            </a:extLst>
          </p:cNvPr>
          <p:cNvPicPr>
            <a:picLocks noChangeAspect="1"/>
          </p:cNvPicPr>
          <p:nvPr/>
        </p:nvPicPr>
        <p:blipFill>
          <a:blip r:embed="rId3"/>
          <a:stretch>
            <a:fillRect/>
          </a:stretch>
        </p:blipFill>
        <p:spPr>
          <a:xfrm>
            <a:off x="537590" y="849781"/>
            <a:ext cx="11110452" cy="5845450"/>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323987"/>
          </a:xfrm>
          <a:prstGeom prst="rect">
            <a:avLst/>
          </a:prstGeom>
          <a:noFill/>
        </p:spPr>
        <p:txBody>
          <a:bodyPr wrap="square" rtlCol="0">
            <a:spAutoFit/>
          </a:bodyPr>
          <a:lstStyle/>
          <a:p>
            <a:r>
              <a:rPr lang="en-US" b="1" dirty="0"/>
              <a:t>Role of Agentic AI in Career Counseling Companion</a:t>
            </a:r>
          </a:p>
          <a:p>
            <a:r>
              <a:rPr lang="en-US" b="1" dirty="0"/>
              <a:t>Agentic AI</a:t>
            </a:r>
            <a:r>
              <a:rPr lang="en-US" dirty="0"/>
              <a:t> enables the Career Counseling Companion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career guidance.</a:t>
            </a:r>
          </a:p>
          <a:p>
            <a:r>
              <a:rPr lang="en-US" dirty="0"/>
              <a:t>Each agent performs a specific role—retrieving career information, recommending career paths, identifying skill gaps, and tracking student progress—while working together. This </a:t>
            </a:r>
            <a:r>
              <a:rPr lang="en-US" b="1" dirty="0"/>
              <a:t>multi-agent approach </a:t>
            </a:r>
            <a:r>
              <a:rPr lang="en-US" dirty="0"/>
              <a:t>ensures efficient task execution and accurate recommendations.</a:t>
            </a:r>
          </a:p>
          <a:p>
            <a:r>
              <a:rPr lang="en-US" dirty="0"/>
              <a:t>Agentic AI provides </a:t>
            </a:r>
            <a:r>
              <a:rPr lang="en-US" b="1" dirty="0"/>
              <a:t>context awareness </a:t>
            </a:r>
            <a:r>
              <a:rPr lang="en-US" dirty="0"/>
              <a:t>by understanding a student's academic performance, skills, interests, and career goals to generate tailored suggestions. It also supports </a:t>
            </a:r>
            <a:r>
              <a:rPr lang="en-US" b="1" dirty="0"/>
              <a:t>real-time adaptation</a:t>
            </a:r>
            <a:r>
              <a:rPr lang="en-US" dirty="0"/>
              <a:t>, continuously updating recommendations based on new achievements, certifications, and changing job market trends.</a:t>
            </a:r>
          </a:p>
          <a:p>
            <a:r>
              <a:rPr lang="en-US" dirty="0"/>
              <a:t>Overall, Agentic AI makes the system proactive, personalized, and goal-driven, acting like a </a:t>
            </a:r>
            <a:r>
              <a:rPr lang="en-US" b="1" dirty="0"/>
              <a:t>smart digital career counselor </a:t>
            </a:r>
            <a:r>
              <a:rPr lang="en-US" dirty="0"/>
              <a:t>that helps students make confident, future-ready career decisions.</a:t>
            </a:r>
          </a:p>
          <a:p>
            <a:endParaRPr lang="en-US" dirty="0"/>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C2C04141-E599-0AEA-5A0B-638442B21715}"/>
              </a:ext>
            </a:extLst>
          </p:cNvPr>
          <p:cNvPicPr>
            <a:picLocks noChangeAspect="1"/>
          </p:cNvPicPr>
          <p:nvPr/>
        </p:nvPicPr>
        <p:blipFill>
          <a:blip r:embed="rId4"/>
          <a:stretch>
            <a:fillRect/>
          </a:stretch>
        </p:blipFill>
        <p:spPr>
          <a:xfrm>
            <a:off x="5952143" y="2392229"/>
            <a:ext cx="5646882" cy="3349809"/>
          </a:xfrm>
          <a:prstGeom prst="rect">
            <a:avLst/>
          </a:prstGeom>
        </p:spPr>
      </p:pic>
      <p:pic>
        <p:nvPicPr>
          <p:cNvPr id="4" name="Picture 3">
            <a:extLst>
              <a:ext uri="{FF2B5EF4-FFF2-40B4-BE49-F238E27FC236}">
                <a16:creationId xmlns:a16="http://schemas.microsoft.com/office/drawing/2014/main" id="{8FB3A319-675E-D061-3F97-9FD805A1549A}"/>
              </a:ext>
            </a:extLst>
          </p:cNvPr>
          <p:cNvPicPr>
            <a:picLocks noChangeAspect="1"/>
          </p:cNvPicPr>
          <p:nvPr/>
        </p:nvPicPr>
        <p:blipFill>
          <a:blip r:embed="rId5"/>
          <a:stretch>
            <a:fillRect/>
          </a:stretch>
        </p:blipFill>
        <p:spPr>
          <a:xfrm>
            <a:off x="114240" y="2392230"/>
            <a:ext cx="5303334" cy="3421507"/>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409144" y="885593"/>
            <a:ext cx="11163874" cy="5715294"/>
          </a:xfrm>
          <a:prstGeom prst="rect">
            <a:avLst/>
          </a:prstGeom>
        </p:spPr>
      </p:pic>
      <p:pic>
        <p:nvPicPr>
          <p:cNvPr id="5" name="Picture 4">
            <a:extLst>
              <a:ext uri="{FF2B5EF4-FFF2-40B4-BE49-F238E27FC236}">
                <a16:creationId xmlns:a16="http://schemas.microsoft.com/office/drawing/2014/main" id="{6B2FCCE1-4E80-F0C3-2901-E0B6731BBA3A}"/>
              </a:ext>
            </a:extLst>
          </p:cNvPr>
          <p:cNvPicPr>
            <a:picLocks noChangeAspect="1"/>
          </p:cNvPicPr>
          <p:nvPr/>
        </p:nvPicPr>
        <p:blipFill>
          <a:blip r:embed="rId4"/>
          <a:stretch>
            <a:fillRect/>
          </a:stretch>
        </p:blipFill>
        <p:spPr>
          <a:xfrm>
            <a:off x="618982" y="1044263"/>
            <a:ext cx="10841498" cy="5625240"/>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004536"/>
            <a:ext cx="10493347" cy="5288404"/>
          </a:xfrm>
          <a:prstGeom prst="rect">
            <a:avLst/>
          </a:prstGeom>
        </p:spPr>
      </p:pic>
      <p:pic>
        <p:nvPicPr>
          <p:cNvPr id="4" name="Picture 3">
            <a:extLst>
              <a:ext uri="{FF2B5EF4-FFF2-40B4-BE49-F238E27FC236}">
                <a16:creationId xmlns:a16="http://schemas.microsoft.com/office/drawing/2014/main" id="{255AC887-59B5-D81D-6C62-3EF4E86FC740}"/>
              </a:ext>
            </a:extLst>
          </p:cNvPr>
          <p:cNvPicPr>
            <a:picLocks noChangeAspect="1"/>
          </p:cNvPicPr>
          <p:nvPr/>
        </p:nvPicPr>
        <p:blipFill>
          <a:blip r:embed="rId4"/>
          <a:stretch>
            <a:fillRect/>
          </a:stretch>
        </p:blipFill>
        <p:spPr>
          <a:xfrm>
            <a:off x="561749" y="816977"/>
            <a:ext cx="10493348" cy="5655238"/>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pic>
        <p:nvPicPr>
          <p:cNvPr id="5" name="Picture 4">
            <a:extLst>
              <a:ext uri="{FF2B5EF4-FFF2-40B4-BE49-F238E27FC236}">
                <a16:creationId xmlns:a16="http://schemas.microsoft.com/office/drawing/2014/main" id="{6B3ACE2B-BF05-DC0D-5127-3099AFA1F508}"/>
              </a:ext>
            </a:extLst>
          </p:cNvPr>
          <p:cNvPicPr>
            <a:picLocks noChangeAspect="1"/>
          </p:cNvPicPr>
          <p:nvPr/>
        </p:nvPicPr>
        <p:blipFill>
          <a:blip r:embed="rId4"/>
          <a:stretch>
            <a:fillRect/>
          </a:stretch>
        </p:blipFill>
        <p:spPr>
          <a:xfrm>
            <a:off x="658368" y="800029"/>
            <a:ext cx="10729139" cy="5705576"/>
          </a:xfrm>
          <a:prstGeom prst="rect">
            <a:avLst/>
          </a:prstGeom>
        </p:spPr>
      </p:pic>
      <p:sp>
        <p:nvSpPr>
          <p:cNvPr id="6" name="TextBox 5">
            <a:extLst>
              <a:ext uri="{FF2B5EF4-FFF2-40B4-BE49-F238E27FC236}">
                <a16:creationId xmlns:a16="http://schemas.microsoft.com/office/drawing/2014/main" id="{719BBF21-E370-EBDD-00EA-480A83F8DFFF}"/>
              </a:ext>
            </a:extLst>
          </p:cNvPr>
          <p:cNvSpPr txBox="1"/>
          <p:nvPr/>
        </p:nvSpPr>
        <p:spPr>
          <a:xfrm>
            <a:off x="4486656" y="451104"/>
            <a:ext cx="184731" cy="307777"/>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C80BE2-600B-E5FA-53E4-17E0750BF90C}"/>
              </a:ext>
            </a:extLst>
          </p:cNvPr>
          <p:cNvSpPr txBox="1"/>
          <p:nvPr/>
        </p:nvSpPr>
        <p:spPr>
          <a:xfrm>
            <a:off x="451104" y="536448"/>
            <a:ext cx="4081567" cy="461665"/>
          </a:xfrm>
          <a:prstGeom prst="rect">
            <a:avLst/>
          </a:prstGeom>
          <a:noFill/>
        </p:spPr>
        <p:txBody>
          <a:bodyPr wrap="none" rtlCol="0">
            <a:spAutoFit/>
          </a:bodyPr>
          <a:lstStyle/>
          <a:p>
            <a:r>
              <a:rPr lang="en-US" sz="2400" b="1" dirty="0">
                <a:sym typeface="Times New Roman"/>
              </a:rPr>
              <a:t>Project Output Screenshot</a:t>
            </a:r>
            <a:endParaRPr lang="en-US" sz="2400" dirty="0"/>
          </a:p>
        </p:txBody>
      </p:sp>
      <p:pic>
        <p:nvPicPr>
          <p:cNvPr id="6" name="Picture 5">
            <a:extLst>
              <a:ext uri="{FF2B5EF4-FFF2-40B4-BE49-F238E27FC236}">
                <a16:creationId xmlns:a16="http://schemas.microsoft.com/office/drawing/2014/main" id="{46270AB1-E4AD-A553-1ABF-B29EB06A103C}"/>
              </a:ext>
            </a:extLst>
          </p:cNvPr>
          <p:cNvPicPr>
            <a:picLocks noChangeAspect="1"/>
          </p:cNvPicPr>
          <p:nvPr/>
        </p:nvPicPr>
        <p:blipFill>
          <a:blip r:embed="rId2"/>
          <a:stretch>
            <a:fillRect/>
          </a:stretch>
        </p:blipFill>
        <p:spPr>
          <a:xfrm>
            <a:off x="1011936" y="1121663"/>
            <a:ext cx="10351008" cy="5380789"/>
          </a:xfrm>
          <a:prstGeom prst="rect">
            <a:avLst/>
          </a:prstGeom>
        </p:spPr>
      </p:pic>
    </p:spTree>
    <p:extLst>
      <p:ext uri="{BB962C8B-B14F-4D97-AF65-F5344CB8AC3E}">
        <p14:creationId xmlns:p14="http://schemas.microsoft.com/office/powerpoint/2010/main" val="1372914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87BB85-3082-CC52-6AC4-29ACB853C423}"/>
              </a:ext>
            </a:extLst>
          </p:cNvPr>
          <p:cNvPicPr>
            <a:picLocks noChangeAspect="1"/>
          </p:cNvPicPr>
          <p:nvPr/>
        </p:nvPicPr>
        <p:blipFill>
          <a:blip r:embed="rId2"/>
          <a:stretch>
            <a:fillRect/>
          </a:stretch>
        </p:blipFill>
        <p:spPr>
          <a:xfrm>
            <a:off x="841248" y="1036320"/>
            <a:ext cx="10509504" cy="5443861"/>
          </a:xfrm>
          <a:prstGeom prst="rect">
            <a:avLst/>
          </a:prstGeom>
        </p:spPr>
      </p:pic>
      <p:sp>
        <p:nvSpPr>
          <p:cNvPr id="4" name="TextBox 3">
            <a:extLst>
              <a:ext uri="{FF2B5EF4-FFF2-40B4-BE49-F238E27FC236}">
                <a16:creationId xmlns:a16="http://schemas.microsoft.com/office/drawing/2014/main" id="{587328CE-BE3D-C6EC-A42E-DF97AE4CB985}"/>
              </a:ext>
            </a:extLst>
          </p:cNvPr>
          <p:cNvSpPr txBox="1"/>
          <p:nvPr/>
        </p:nvSpPr>
        <p:spPr>
          <a:xfrm>
            <a:off x="304800" y="377819"/>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1022954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7D2F4D-6102-A5C9-F667-2A17ADC16228}"/>
              </a:ext>
            </a:extLst>
          </p:cNvPr>
          <p:cNvPicPr>
            <a:picLocks noChangeAspect="1"/>
          </p:cNvPicPr>
          <p:nvPr/>
        </p:nvPicPr>
        <p:blipFill>
          <a:blip r:embed="rId2"/>
          <a:stretch>
            <a:fillRect/>
          </a:stretch>
        </p:blipFill>
        <p:spPr>
          <a:xfrm>
            <a:off x="1071716" y="943897"/>
            <a:ext cx="10137058" cy="5703054"/>
          </a:xfrm>
          <a:prstGeom prst="rect">
            <a:avLst/>
          </a:prstGeom>
        </p:spPr>
      </p:pic>
      <p:sp>
        <p:nvSpPr>
          <p:cNvPr id="4" name="TextBox 3">
            <a:extLst>
              <a:ext uri="{FF2B5EF4-FFF2-40B4-BE49-F238E27FC236}">
                <a16:creationId xmlns:a16="http://schemas.microsoft.com/office/drawing/2014/main" id="{D6177DA8-9C0D-2B58-93FE-AADB6BA8D00F}"/>
              </a:ext>
            </a:extLst>
          </p:cNvPr>
          <p:cNvSpPr txBox="1"/>
          <p:nvPr/>
        </p:nvSpPr>
        <p:spPr>
          <a:xfrm>
            <a:off x="383458" y="266789"/>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969285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854809-C1E5-1C00-1E98-17E55EC4142D}"/>
              </a:ext>
            </a:extLst>
          </p:cNvPr>
          <p:cNvPicPr>
            <a:picLocks noChangeAspect="1"/>
          </p:cNvPicPr>
          <p:nvPr/>
        </p:nvPicPr>
        <p:blipFill>
          <a:blip r:embed="rId2"/>
          <a:stretch>
            <a:fillRect/>
          </a:stretch>
        </p:blipFill>
        <p:spPr>
          <a:xfrm>
            <a:off x="1091381" y="1209368"/>
            <a:ext cx="10028904" cy="5426879"/>
          </a:xfrm>
          <a:prstGeom prst="rect">
            <a:avLst/>
          </a:prstGeom>
        </p:spPr>
      </p:pic>
      <p:sp>
        <p:nvSpPr>
          <p:cNvPr id="4" name="TextBox 3">
            <a:extLst>
              <a:ext uri="{FF2B5EF4-FFF2-40B4-BE49-F238E27FC236}">
                <a16:creationId xmlns:a16="http://schemas.microsoft.com/office/drawing/2014/main" id="{6A303899-AF6C-5805-E7B2-70150EBCB784}"/>
              </a:ext>
            </a:extLst>
          </p:cNvPr>
          <p:cNvSpPr txBox="1"/>
          <p:nvPr/>
        </p:nvSpPr>
        <p:spPr>
          <a:xfrm>
            <a:off x="393290" y="532260"/>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2107144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DB3041-C4FD-E5DA-EB93-1D6FA8DB2178}"/>
              </a:ext>
            </a:extLst>
          </p:cNvPr>
          <p:cNvPicPr>
            <a:picLocks noChangeAspect="1"/>
          </p:cNvPicPr>
          <p:nvPr/>
        </p:nvPicPr>
        <p:blipFill>
          <a:blip r:embed="rId2"/>
          <a:stretch>
            <a:fillRect/>
          </a:stretch>
        </p:blipFill>
        <p:spPr>
          <a:xfrm>
            <a:off x="1268360" y="1189703"/>
            <a:ext cx="9960079" cy="5438188"/>
          </a:xfrm>
          <a:prstGeom prst="rect">
            <a:avLst/>
          </a:prstGeom>
        </p:spPr>
      </p:pic>
      <p:sp>
        <p:nvSpPr>
          <p:cNvPr id="4" name="TextBox 3">
            <a:extLst>
              <a:ext uri="{FF2B5EF4-FFF2-40B4-BE49-F238E27FC236}">
                <a16:creationId xmlns:a16="http://schemas.microsoft.com/office/drawing/2014/main" id="{D5B6402F-AF54-E204-4241-7C7C1C8D5D08}"/>
              </a:ext>
            </a:extLst>
          </p:cNvPr>
          <p:cNvSpPr txBox="1"/>
          <p:nvPr/>
        </p:nvSpPr>
        <p:spPr>
          <a:xfrm>
            <a:off x="550607" y="512595"/>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538020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94A0A5-8B01-5FFE-2A5B-E7170ED8A9C2}"/>
              </a:ext>
            </a:extLst>
          </p:cNvPr>
          <p:cNvPicPr>
            <a:picLocks noChangeAspect="1"/>
          </p:cNvPicPr>
          <p:nvPr/>
        </p:nvPicPr>
        <p:blipFill>
          <a:blip r:embed="rId2"/>
          <a:stretch>
            <a:fillRect/>
          </a:stretch>
        </p:blipFill>
        <p:spPr>
          <a:xfrm>
            <a:off x="1425677" y="993058"/>
            <a:ext cx="9694608" cy="5641186"/>
          </a:xfrm>
          <a:prstGeom prst="rect">
            <a:avLst/>
          </a:prstGeom>
        </p:spPr>
      </p:pic>
      <p:sp>
        <p:nvSpPr>
          <p:cNvPr id="4" name="TextBox 3">
            <a:extLst>
              <a:ext uri="{FF2B5EF4-FFF2-40B4-BE49-F238E27FC236}">
                <a16:creationId xmlns:a16="http://schemas.microsoft.com/office/drawing/2014/main" id="{7DAFD12C-D6A1-4002-3691-12623D78252C}"/>
              </a:ext>
            </a:extLst>
          </p:cNvPr>
          <p:cNvSpPr txBox="1"/>
          <p:nvPr/>
        </p:nvSpPr>
        <p:spPr>
          <a:xfrm>
            <a:off x="452284" y="315950"/>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36616748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424AA7-BC1D-2605-A6BF-E1187A1BC5D2}"/>
              </a:ext>
            </a:extLst>
          </p:cNvPr>
          <p:cNvPicPr>
            <a:picLocks noChangeAspect="1"/>
          </p:cNvPicPr>
          <p:nvPr/>
        </p:nvPicPr>
        <p:blipFill>
          <a:blip r:embed="rId2"/>
          <a:stretch>
            <a:fillRect/>
          </a:stretch>
        </p:blipFill>
        <p:spPr>
          <a:xfrm>
            <a:off x="1061884" y="943897"/>
            <a:ext cx="9910916" cy="5693524"/>
          </a:xfrm>
          <a:prstGeom prst="rect">
            <a:avLst/>
          </a:prstGeom>
        </p:spPr>
      </p:pic>
      <p:sp>
        <p:nvSpPr>
          <p:cNvPr id="4" name="TextBox 3">
            <a:extLst>
              <a:ext uri="{FF2B5EF4-FFF2-40B4-BE49-F238E27FC236}">
                <a16:creationId xmlns:a16="http://schemas.microsoft.com/office/drawing/2014/main" id="{21C30B05-A6A2-DE8E-AA60-FECE52B83FC5}"/>
              </a:ext>
            </a:extLst>
          </p:cNvPr>
          <p:cNvSpPr txBox="1"/>
          <p:nvPr/>
        </p:nvSpPr>
        <p:spPr>
          <a:xfrm>
            <a:off x="530943" y="363794"/>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4064363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D2A91F-282D-DD8A-7BF1-67F45CFA49FB}"/>
              </a:ext>
            </a:extLst>
          </p:cNvPr>
          <p:cNvPicPr>
            <a:picLocks noChangeAspect="1"/>
          </p:cNvPicPr>
          <p:nvPr/>
        </p:nvPicPr>
        <p:blipFill>
          <a:blip r:embed="rId2"/>
          <a:stretch>
            <a:fillRect/>
          </a:stretch>
        </p:blipFill>
        <p:spPr>
          <a:xfrm>
            <a:off x="963560" y="1179871"/>
            <a:ext cx="10441859" cy="5448177"/>
          </a:xfrm>
          <a:prstGeom prst="rect">
            <a:avLst/>
          </a:prstGeom>
        </p:spPr>
      </p:pic>
      <p:sp>
        <p:nvSpPr>
          <p:cNvPr id="4" name="TextBox 3">
            <a:extLst>
              <a:ext uri="{FF2B5EF4-FFF2-40B4-BE49-F238E27FC236}">
                <a16:creationId xmlns:a16="http://schemas.microsoft.com/office/drawing/2014/main" id="{2DBE08C6-9C05-0FCF-AFC0-A10CA1CD8063}"/>
              </a:ext>
            </a:extLst>
          </p:cNvPr>
          <p:cNvSpPr txBox="1"/>
          <p:nvPr/>
        </p:nvSpPr>
        <p:spPr>
          <a:xfrm>
            <a:off x="481780" y="580103"/>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1149053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278962-368C-2F12-3700-93977CF0CB90}"/>
              </a:ext>
            </a:extLst>
          </p:cNvPr>
          <p:cNvPicPr>
            <a:picLocks noChangeAspect="1"/>
          </p:cNvPicPr>
          <p:nvPr/>
        </p:nvPicPr>
        <p:blipFill>
          <a:blip r:embed="rId2"/>
          <a:stretch>
            <a:fillRect/>
          </a:stretch>
        </p:blipFill>
        <p:spPr>
          <a:xfrm>
            <a:off x="1170039" y="1356852"/>
            <a:ext cx="9586452" cy="5258332"/>
          </a:xfrm>
          <a:prstGeom prst="rect">
            <a:avLst/>
          </a:prstGeom>
        </p:spPr>
      </p:pic>
      <p:sp>
        <p:nvSpPr>
          <p:cNvPr id="4" name="TextBox 3">
            <a:extLst>
              <a:ext uri="{FF2B5EF4-FFF2-40B4-BE49-F238E27FC236}">
                <a16:creationId xmlns:a16="http://schemas.microsoft.com/office/drawing/2014/main" id="{2F396A92-15D0-FCF8-BE35-924819A70915}"/>
              </a:ext>
            </a:extLst>
          </p:cNvPr>
          <p:cNvSpPr txBox="1"/>
          <p:nvPr/>
        </p:nvSpPr>
        <p:spPr>
          <a:xfrm>
            <a:off x="383458" y="501445"/>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2376182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801314"/>
          </a:xfrm>
          <a:prstGeom prst="rect">
            <a:avLst/>
          </a:prstGeom>
          <a:noFill/>
        </p:spPr>
        <p:txBody>
          <a:bodyPr wrap="square" rtlCol="0">
            <a:spAutoFit/>
          </a:bodyPr>
          <a:lstStyle/>
          <a:p>
            <a:r>
              <a:rPr lang="en-US" sz="1800" dirty="0"/>
              <a:t>The proposed Agentic Career Counseling Companion stands out by combining Agentic AI, RAG, and personalization into a single intelligent career guidance system.</a:t>
            </a:r>
          </a:p>
          <a:p>
            <a:endParaRPr lang="en-IN" sz="1800" dirty="0"/>
          </a:p>
          <a:p>
            <a:r>
              <a:rPr lang="en-IN" sz="1800" b="1" dirty="0"/>
              <a:t>Multi-Agent Intelligence</a:t>
            </a:r>
            <a:r>
              <a:rPr lang="en-IN" sz="1800" dirty="0"/>
              <a:t> – </a:t>
            </a:r>
            <a:r>
              <a:rPr lang="en-US" sz="1800" dirty="0"/>
              <a:t>Multiple specialized agents collaborate to provide accurate and context-aware career recommendations.</a:t>
            </a:r>
            <a:r>
              <a:rPr lang="en-IN" sz="1800" dirty="0"/>
              <a:t> </a:t>
            </a:r>
          </a:p>
          <a:p>
            <a:r>
              <a:rPr lang="en-IN" sz="1800" b="1" dirty="0"/>
              <a:t>RAG-Based Accuracy</a:t>
            </a:r>
            <a:r>
              <a:rPr lang="en-IN" sz="1800" dirty="0"/>
              <a:t> – </a:t>
            </a:r>
            <a:r>
              <a:rPr lang="en-US" sz="1800" dirty="0"/>
              <a:t>Combines real-time career data retrieval with AI-generated insights for reliable guidance.</a:t>
            </a:r>
            <a:endParaRPr lang="en-IN" sz="1800" dirty="0"/>
          </a:p>
          <a:p>
            <a:r>
              <a:rPr lang="en-IN" sz="1800" b="1" dirty="0"/>
              <a:t>Hyper-Personalization</a:t>
            </a:r>
            <a:r>
              <a:rPr lang="en-IN" sz="1800" dirty="0"/>
              <a:t> – </a:t>
            </a:r>
            <a:r>
              <a:rPr lang="en-US" sz="1800" dirty="0"/>
              <a:t>Tailors career paths based on academic performance, skills, interests, and career goals.</a:t>
            </a:r>
            <a:endParaRPr lang="en-IN" sz="1800" dirty="0"/>
          </a:p>
          <a:p>
            <a:r>
              <a:rPr lang="en-IN" sz="1800" b="1" dirty="0"/>
              <a:t>Real-Time Adaption</a:t>
            </a:r>
            <a:r>
              <a:rPr lang="en-IN" sz="1800" dirty="0"/>
              <a:t> – </a:t>
            </a:r>
            <a:r>
              <a:rPr lang="en-US" sz="1800" dirty="0"/>
              <a:t>Continuously updates recommendations as students gain new skills, certifications, and internships.</a:t>
            </a:r>
            <a:endParaRPr lang="en-IN" sz="1800" dirty="0"/>
          </a:p>
          <a:p>
            <a:r>
              <a:rPr lang="en-US" sz="1800" b="1" dirty="0"/>
              <a:t>Skill Gap Analysis </a:t>
            </a:r>
            <a:r>
              <a:rPr lang="en-US" sz="1800" dirty="0"/>
              <a:t>– Identifies missing skills and recommends relevant courses, projects, and certifications</a:t>
            </a:r>
            <a:r>
              <a:rPr lang="en-IN" sz="1800" dirty="0"/>
              <a:t>.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US" sz="1800" dirty="0"/>
              <a:t>This makes the solution a </a:t>
            </a:r>
            <a:r>
              <a:rPr lang="en-US" sz="1800" b="1" dirty="0"/>
              <a:t>smart, adaptive, and proactive digital career counselor, </a:t>
            </a:r>
            <a:r>
              <a:rPr lang="en-US" sz="1800" dirty="0"/>
              <a:t>not just a static career recommendation tool.</a:t>
            </a:r>
            <a:endParaRPr lang="en-IN" sz="1800" dirty="0"/>
          </a:p>
        </p:txBody>
      </p:sp>
    </p:spTree>
    <p:extLst>
      <p:ext uri="{BB962C8B-B14F-4D97-AF65-F5344CB8AC3E}">
        <p14:creationId xmlns:p14="http://schemas.microsoft.com/office/powerpoint/2010/main" val="2325282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b="1" dirty="0">
                <a:solidFill>
                  <a:srgbClr val="2B3541"/>
                </a:solidFill>
                <a:latin typeface="Times New Roman"/>
                <a:ea typeface="Times New Roman"/>
                <a:cs typeface="Times New Roman"/>
                <a:sym typeface="Times New Roman"/>
                <a:hlinkClick r:id="rId3"/>
              </a:rPr>
              <a:t>https://github.com/325bhagyalaxmi-lang/Agentic_career_counselling_companion</a:t>
            </a:r>
            <a:endParaRPr lang="en-US" sz="1850" b="1"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b="1"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1.Integration with Wearables &amp; Health Devices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2.AI-Powered Voice Assistant &amp; Multilingual Support </a:t>
            </a:r>
            <a:r>
              <a:rPr lang="en-US" sz="1850"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lang="en-US" sz="1850" dirty="0">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DB0DDF4A-7D3E-6969-87F7-11FCE08CE71B}"/>
              </a:ext>
            </a:extLst>
          </p:cNvPr>
          <p:cNvPicPr>
            <a:picLocks noChangeAspect="1"/>
          </p:cNvPicPr>
          <p:nvPr/>
        </p:nvPicPr>
        <p:blipFill>
          <a:blip r:embed="rId2"/>
          <a:stretch>
            <a:fillRect/>
          </a:stretch>
        </p:blipFill>
        <p:spPr>
          <a:xfrm>
            <a:off x="1694688" y="1556314"/>
            <a:ext cx="9006091" cy="5094305"/>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812F1AD9-281C-A28F-0CF4-C36528D1F458}"/>
              </a:ext>
            </a:extLst>
          </p:cNvPr>
          <p:cNvPicPr>
            <a:picLocks noChangeAspect="1"/>
          </p:cNvPicPr>
          <p:nvPr/>
        </p:nvPicPr>
        <p:blipFill>
          <a:blip r:embed="rId2"/>
          <a:stretch>
            <a:fillRect/>
          </a:stretch>
        </p:blipFill>
        <p:spPr>
          <a:xfrm>
            <a:off x="2374205" y="1477578"/>
            <a:ext cx="7796981" cy="489646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606</TotalTime>
  <Words>1412</Words>
  <Application>Microsoft Office PowerPoint</Application>
  <PresentationFormat>Widescreen</PresentationFormat>
  <Paragraphs>130</Paragraphs>
  <Slides>29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Bhagyalaxmi Gudimella</cp:lastModifiedBy>
  <cp:revision>18</cp:revision>
  <dcterms:created xsi:type="dcterms:W3CDTF">2025-07-08T05:06:56Z</dcterms:created>
  <dcterms:modified xsi:type="dcterms:W3CDTF">2026-09-09T16:05:47Z</dcterms:modified>
</cp:coreProperties>
</file>