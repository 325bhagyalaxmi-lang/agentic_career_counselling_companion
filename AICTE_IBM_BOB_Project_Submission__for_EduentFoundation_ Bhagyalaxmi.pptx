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31"/>
  </p:notesMasterIdLst>
  <p:sldIdLst>
    <p:sldId id="290" r:id="rId2"/>
    <p:sldId id="291" r:id="rId3"/>
    <p:sldId id="292" r:id="rId4"/>
    <p:sldId id="293" r:id="rId5"/>
    <p:sldId id="294" r:id="rId6"/>
    <p:sldId id="295" r:id="rId7"/>
    <p:sldId id="296" r:id="rId8"/>
    <p:sldId id="297" r:id="rId9"/>
    <p:sldId id="298" r:id="rId10"/>
    <p:sldId id="299" r:id="rId11"/>
    <p:sldId id="300" r:id="rId12"/>
    <p:sldId id="301" r:id="rId13"/>
    <p:sldId id="302" r:id="rId14"/>
    <p:sldId id="303" r:id="rId15"/>
    <p:sldId id="310" r:id="rId16"/>
    <p:sldId id="311" r:id="rId17"/>
    <p:sldId id="312" r:id="rId18"/>
    <p:sldId id="313" r:id="rId19"/>
    <p:sldId id="314" r:id="rId20"/>
    <p:sldId id="315" r:id="rId21"/>
    <p:sldId id="316" r:id="rId22"/>
    <p:sldId id="317" r:id="rId23"/>
    <p:sldId id="318" r:id="rId24"/>
    <p:sldId id="304" r:id="rId25"/>
    <p:sldId id="305" r:id="rId26"/>
    <p:sldId id="306" r:id="rId27"/>
    <p:sldId id="307" r:id="rId28"/>
    <p:sldId id="308" r:id="rId29"/>
    <p:sldId id="309" r:id="rId30"/>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32"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customschemas.google.com/relationships/presentationmetadata" Target="meta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9857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FB18EFA4-CD13-16C4-504B-6DB7E86CE039}"/>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E8E16183-6BFA-E60A-1235-F3BFB1B1F6E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C4420B06-3455-3F20-5E28-90535F24DA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6517532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8E9CB32A-B328-07DF-4F33-E0118C920B5A}"/>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BD392DC-EA03-14B5-7A53-AC36124B41C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F90BE8D5-07EC-73D0-0A62-4778024FF05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8420779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F18774C-544B-0071-4FA9-86D0ADEC5A87}"/>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68645894-EE59-A5F4-D411-C82EB564E1C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FEE489F0-0910-6D8B-0254-C25DB088272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7735855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BB47F127-39C9-4CE0-52A6-66BD53AE96F2}"/>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57CB72F8-8B0E-1466-D091-917F3E75592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1CEA3A31-DD75-5F0D-19FB-8192F5E7F99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4587127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A795C14E-5D6A-39A3-2018-2C72BB451BBD}"/>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5B8BB2F-0927-3841-AC64-CC67B50358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58797E72-A3BC-0A49-07C4-DE7FDA7523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207868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1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hyperlink" Target="https://github.com/325bhagyalaxmi-lang/Agentic_career_counselling_companion" TargetMode="External"/><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dirty="0"/>
              <a:t>IBM University Engagement Project Submission</a:t>
            </a:r>
            <a:br>
              <a:rPr lang="en-US" b="1" dirty="0"/>
            </a:br>
            <a:endParaRPr lang="en-IN" dirty="0"/>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dirty="0"/>
              <a:t>“Exploring the Power of Agentic AI with IBM Granite and IBM Bob”</a:t>
            </a:r>
            <a:endParaRPr lang="en-IN" dirty="0"/>
          </a:p>
        </p:txBody>
      </p:sp>
    </p:spTree>
    <p:extLst>
      <p:ext uri="{BB962C8B-B14F-4D97-AF65-F5344CB8AC3E}">
        <p14:creationId xmlns:p14="http://schemas.microsoft.com/office/powerpoint/2010/main" val="38285595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454199704"/>
              </p:ext>
            </p:extLst>
          </p:nvPr>
        </p:nvGraphicFramePr>
        <p:xfrm>
          <a:off x="1299257" y="2600315"/>
          <a:ext cx="9394989" cy="2167128"/>
        </p:xfrm>
        <a:graphic>
          <a:graphicData uri="http://schemas.openxmlformats.org/drawingml/2006/table">
            <a:tbl>
              <a:tblPr>
                <a:noFill/>
                <a:tableStyleId>{0AAD8F4D-43EB-41E5-8A38-28AB6DFB1B60}</a:tableStyleId>
              </a:tblPr>
              <a:tblGrid>
                <a:gridCol w="2064867">
                  <a:extLst>
                    <a:ext uri="{9D8B030D-6E8A-4147-A177-3AD203B41FA5}">
                      <a16:colId xmlns:a16="http://schemas.microsoft.com/office/drawing/2014/main" val="20000"/>
                    </a:ext>
                  </a:extLst>
                </a:gridCol>
                <a:gridCol w="2443374">
                  <a:extLst>
                    <a:ext uri="{9D8B030D-6E8A-4147-A177-3AD203B41FA5}">
                      <a16:colId xmlns:a16="http://schemas.microsoft.com/office/drawing/2014/main" val="20002"/>
                    </a:ext>
                  </a:extLst>
                </a:gridCol>
                <a:gridCol w="2530257">
                  <a:extLst>
                    <a:ext uri="{9D8B030D-6E8A-4147-A177-3AD203B41FA5}">
                      <a16:colId xmlns:a16="http://schemas.microsoft.com/office/drawing/2014/main" val="20003"/>
                    </a:ext>
                  </a:extLst>
                </a:gridCol>
                <a:gridCol w="2356491">
                  <a:extLst>
                    <a:ext uri="{9D8B030D-6E8A-4147-A177-3AD203B41FA5}">
                      <a16:colId xmlns:a16="http://schemas.microsoft.com/office/drawing/2014/main" val="20004"/>
                    </a:ext>
                  </a:extLst>
                </a:gridCol>
              </a:tblGrid>
              <a:tr h="973237">
                <a:tc>
                  <a:txBody>
                    <a:bodyPr/>
                    <a:lstStyle/>
                    <a:p>
                      <a:pPr marL="0" marR="0" lvl="0" indent="0" algn="ctr" rtl="0">
                        <a:spcBef>
                          <a:spcPts val="0"/>
                        </a:spcBef>
                        <a:spcAft>
                          <a:spcPts val="0"/>
                        </a:spcAft>
                        <a:buNone/>
                      </a:pPr>
                      <a:r>
                        <a:rPr lang="en-US" sz="1800" u="none" strike="noStrike" cap="none"/>
                        <a:t>Student Name</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a:t>Recent Passport Photo</a:t>
                      </a:r>
                      <a:endParaRPr sz="1800" u="none" strike="noStrike" cap="none"/>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Calibri"/>
                          <a:cs typeface="Arial"/>
                          <a:sym typeface="Calibri"/>
                        </a:rPr>
                        <a:t>Email ID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Mobile number</a:t>
                      </a:r>
                      <a:endParaRPr sz="1800" b="0" i="0" u="none" strike="noStrike" cap="none">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[WhatsApp]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891">
                <a:tc>
                  <a:txBody>
                    <a:bodyPr/>
                    <a:lstStyle/>
                    <a:p>
                      <a:pPr marL="0" marR="0" lvl="0" indent="0" algn="l" rtl="0">
                        <a:spcBef>
                          <a:spcPts val="0"/>
                        </a:spcBef>
                        <a:spcAft>
                          <a:spcPts val="0"/>
                        </a:spcAft>
                        <a:buNone/>
                      </a:pPr>
                      <a:r>
                        <a:rPr lang="en-IN" dirty="0"/>
                        <a:t>Bhagyalaxmi Gudimella</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IN" dirty="0"/>
                        <a:t>325bhagyalaxmi@gmail.com</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IN" dirty="0"/>
                        <a:t>9869157606</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A828B9EF-C084-F5D4-CA27-75AF7D995640}"/>
              </a:ext>
            </a:extLst>
          </p:cNvPr>
          <p:cNvSpPr txBox="1"/>
          <p:nvPr/>
        </p:nvSpPr>
        <p:spPr>
          <a:xfrm>
            <a:off x="1206164" y="1460724"/>
            <a:ext cx="10280254" cy="461665"/>
          </a:xfrm>
          <a:prstGeom prst="rect">
            <a:avLst/>
          </a:prstGeom>
          <a:noFill/>
        </p:spPr>
        <p:txBody>
          <a:bodyPr wrap="square" rtlCol="0">
            <a:spAutoFit/>
          </a:bodyPr>
          <a:lstStyle/>
          <a:p>
            <a:r>
              <a:rPr lang="en-US" sz="2400" b="1" dirty="0"/>
              <a:t>Domain of  Project – </a:t>
            </a:r>
            <a:r>
              <a:rPr lang="en-US" sz="2400" b="1" dirty="0">
                <a:highlight>
                  <a:srgbClr val="FFFF00"/>
                </a:highlight>
              </a:rPr>
              <a:t>[Education]</a:t>
            </a:r>
            <a:endParaRPr lang="en-IN" sz="2400" b="1" dirty="0">
              <a:highlight>
                <a:srgbClr val="FFFF00"/>
              </a:highlight>
            </a:endParaRPr>
          </a:p>
        </p:txBody>
      </p:sp>
      <p:sp>
        <p:nvSpPr>
          <p:cNvPr id="7" name="TextBox 6">
            <a:extLst>
              <a:ext uri="{FF2B5EF4-FFF2-40B4-BE49-F238E27FC236}">
                <a16:creationId xmlns:a16="http://schemas.microsoft.com/office/drawing/2014/main" id="{3D723CA3-EC2D-165A-F109-3759C4E9C8A4}"/>
              </a:ext>
            </a:extLst>
          </p:cNvPr>
          <p:cNvSpPr txBox="1"/>
          <p:nvPr/>
        </p:nvSpPr>
        <p:spPr>
          <a:xfrm>
            <a:off x="1206162" y="551965"/>
            <a:ext cx="9581177" cy="461665"/>
          </a:xfrm>
          <a:prstGeom prst="rect">
            <a:avLst/>
          </a:prstGeom>
          <a:noFill/>
        </p:spPr>
        <p:txBody>
          <a:bodyPr wrap="square" rtlCol="0">
            <a:spAutoFit/>
          </a:bodyPr>
          <a:lstStyle/>
          <a:p>
            <a:r>
              <a:rPr lang="en-US" sz="2400" b="1" dirty="0"/>
              <a:t>Project Tile – </a:t>
            </a:r>
            <a:r>
              <a:rPr lang="en-US" sz="2400" b="1" dirty="0">
                <a:highlight>
                  <a:srgbClr val="FFFF00"/>
                </a:highlight>
              </a:rPr>
              <a:t>[Agentic Career Counseling Companion]</a:t>
            </a:r>
            <a:endParaRPr lang="en-IN" sz="2400" b="1" dirty="0">
              <a:highlight>
                <a:srgbClr val="FFFF00"/>
              </a:highlight>
            </a:endParaRPr>
          </a:p>
        </p:txBody>
      </p:sp>
      <p:sp>
        <p:nvSpPr>
          <p:cNvPr id="3" name="TextBox 2">
            <a:extLst>
              <a:ext uri="{FF2B5EF4-FFF2-40B4-BE49-F238E27FC236}">
                <a16:creationId xmlns:a16="http://schemas.microsoft.com/office/drawing/2014/main" id="{B0B023FA-CFEB-ACE9-8425-7E72E307CDC5}"/>
              </a:ext>
            </a:extLst>
          </p:cNvPr>
          <p:cNvSpPr txBox="1"/>
          <p:nvPr/>
        </p:nvSpPr>
        <p:spPr>
          <a:xfrm>
            <a:off x="1211005" y="5210667"/>
            <a:ext cx="6456743" cy="163121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a:solidFill>
                  <a:srgbClr val="FF0000"/>
                </a:solidFill>
              </a:rPr>
              <a:t>Recommended font style and size:</a:t>
            </a:r>
            <a:br>
              <a:rPr lang="en-US" sz="2000">
                <a:solidFill>
                  <a:srgbClr val="FF0000"/>
                </a:solidFill>
              </a:rPr>
            </a:br>
            <a:br>
              <a:rPr lang="en-US" sz="2000"/>
            </a:br>
            <a:r>
              <a:rPr lang="en-US" sz="2000">
                <a:solidFill>
                  <a:srgbClr val="FF0000"/>
                </a:solidFill>
              </a:rPr>
              <a:t>Font Style: Arial</a:t>
            </a:r>
            <a:br>
              <a:rPr lang="en-US" sz="2000">
                <a:solidFill>
                  <a:srgbClr val="FF0000"/>
                </a:solidFill>
              </a:rPr>
            </a:br>
            <a:r>
              <a:rPr lang="en-US" sz="2000">
                <a:solidFill>
                  <a:srgbClr val="FF0000"/>
                </a:solidFill>
              </a:rPr>
              <a:t>Font Size (Heading): 28</a:t>
            </a:r>
          </a:p>
          <a:p>
            <a:r>
              <a:rPr lang="en-US" sz="2000">
                <a:solidFill>
                  <a:srgbClr val="FF0000"/>
                </a:solidFill>
              </a:rPr>
              <a:t>Font Size (Content): 20</a:t>
            </a:r>
          </a:p>
        </p:txBody>
      </p:sp>
      <p:pic>
        <p:nvPicPr>
          <p:cNvPr id="5" name="Picture 4">
            <a:extLst>
              <a:ext uri="{FF2B5EF4-FFF2-40B4-BE49-F238E27FC236}">
                <a16:creationId xmlns:a16="http://schemas.microsoft.com/office/drawing/2014/main" id="{2B224A66-0535-AD34-2158-FEAA66DD46A7}"/>
              </a:ext>
            </a:extLst>
          </p:cNvPr>
          <p:cNvPicPr>
            <a:picLocks noChangeAspect="1"/>
          </p:cNvPicPr>
          <p:nvPr/>
        </p:nvPicPr>
        <p:blipFill>
          <a:blip r:embed="rId3"/>
          <a:stretch>
            <a:fillRect/>
          </a:stretch>
        </p:blipFill>
        <p:spPr>
          <a:xfrm>
            <a:off x="4022309" y="3729395"/>
            <a:ext cx="994143" cy="917016"/>
          </a:xfrm>
          <a:prstGeom prst="rect">
            <a:avLst/>
          </a:prstGeom>
        </p:spPr>
      </p:pic>
    </p:spTree>
    <p:extLst>
      <p:ext uri="{BB962C8B-B14F-4D97-AF65-F5344CB8AC3E}">
        <p14:creationId xmlns:p14="http://schemas.microsoft.com/office/powerpoint/2010/main" val="9523178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576072" y="1234440"/>
            <a:ext cx="10607040" cy="4401205"/>
          </a:xfrm>
          <a:prstGeom prst="rect">
            <a:avLst/>
          </a:prstGeom>
          <a:noFill/>
        </p:spPr>
        <p:txBody>
          <a:bodyPr wrap="square" rtlCol="0">
            <a:spAutoFit/>
          </a:bodyPr>
          <a:lstStyle/>
          <a:p>
            <a:pPr fontAlgn="base"/>
            <a:r>
              <a:rPr lang="en-US" b="1" dirty="0"/>
              <a:t>Problem Statement  </a:t>
            </a:r>
            <a:r>
              <a:rPr lang="en-US" dirty="0"/>
              <a:t>– Agentic Career Counseling Companion The Challenge – Students often struggle to make informed career decisions due to fragmented access to guidance, limited self-awareness of academic strengths, and rapidly evolving industry landscapes. Traditional counseling methods lack personalization and scalability, leading to missed opportunities and career mismatches. The challenge is to develop an intelligent, autonomous agent that continuously monitors student performance, evolving interests, and real-time labor market trends to deliver tailored career pathway suggestions. This would empower students to make confident, future-ready decisions with minimal dependency on manual intervention. </a:t>
            </a:r>
          </a:p>
          <a:p>
            <a:pPr fontAlgn="base"/>
            <a:endParaRPr lang="en-US" dirty="0"/>
          </a:p>
          <a:p>
            <a:pPr fontAlgn="base"/>
            <a:r>
              <a:rPr lang="en-US" b="1" dirty="0"/>
              <a:t>The Objective</a:t>
            </a:r>
            <a:r>
              <a:rPr lang="en-US" dirty="0"/>
              <a:t> </a:t>
            </a:r>
          </a:p>
          <a:p>
            <a:pPr fontAlgn="base"/>
            <a:r>
              <a:rPr lang="en-US" dirty="0"/>
              <a:t>Build an </a:t>
            </a:r>
            <a:r>
              <a:rPr lang="en-US" b="1" dirty="0"/>
              <a:t>AI-powered Agentic Career Counseling Companion</a:t>
            </a:r>
            <a:r>
              <a:rPr lang="en-US" dirty="0"/>
              <a:t> that delivers personalized career guidance and future-ready recommendations for students, graduates, and career counselors. The solution should:</a:t>
            </a:r>
          </a:p>
          <a:p>
            <a:pPr fontAlgn="base"/>
            <a:endParaRPr lang="en-US" dirty="0"/>
          </a:p>
          <a:p>
            <a:pPr marL="285750" indent="-285750" fontAlgn="base">
              <a:buFont typeface="Arial" panose="020B0604020202020204" pitchFamily="34" charset="0"/>
              <a:buChar char="•"/>
            </a:pPr>
            <a:r>
              <a:rPr lang="en-US" b="1" dirty="0"/>
              <a:t>Personalized Career Paths </a:t>
            </a:r>
            <a:r>
              <a:rPr lang="en-US" dirty="0"/>
              <a:t>– Recommend careers based on skills, academic performance, interests, and goals.</a:t>
            </a:r>
          </a:p>
          <a:p>
            <a:pPr marL="285750" indent="-285750" fontAlgn="base">
              <a:buFont typeface="Arial" panose="020B0604020202020204" pitchFamily="34" charset="0"/>
              <a:buChar char="•"/>
            </a:pPr>
            <a:r>
              <a:rPr lang="en-US" b="1" dirty="0"/>
              <a:t>Career Data RAG Retrieval</a:t>
            </a:r>
            <a:r>
              <a:rPr lang="en-US" dirty="0"/>
              <a:t> -- Fetch job trends, required skills, and certification details from reliable sources.. </a:t>
            </a:r>
          </a:p>
          <a:p>
            <a:pPr marL="285750" indent="-285750" fontAlgn="base">
              <a:buFont typeface="Arial" panose="020B0604020202020204" pitchFamily="34" charset="0"/>
              <a:buChar char="•"/>
            </a:pPr>
            <a:r>
              <a:rPr lang="en-US" b="1" dirty="0"/>
              <a:t>Skill Gap Analysis </a:t>
            </a:r>
            <a:r>
              <a:rPr lang="en-US" dirty="0"/>
              <a:t>– Suggest courses, projects, and internships to improve career readiness.</a:t>
            </a:r>
          </a:p>
          <a:p>
            <a:pPr marL="285750" indent="-285750" fontAlgn="base">
              <a:buFont typeface="Arial" panose="020B0604020202020204" pitchFamily="34" charset="0"/>
              <a:buChar char="•"/>
            </a:pPr>
            <a:r>
              <a:rPr lang="en-US" b="1" dirty="0"/>
              <a:t>Multi-Agent System</a:t>
            </a:r>
            <a:r>
              <a:rPr lang="en-US" dirty="0"/>
              <a:t> – </a:t>
            </a:r>
          </a:p>
          <a:p>
            <a:pPr marL="285750" indent="-285750" fontAlgn="base">
              <a:buFont typeface="Arial" panose="020B0604020202020204" pitchFamily="34" charset="0"/>
              <a:buChar char="•"/>
            </a:pPr>
            <a:r>
              <a:rPr lang="en-US" b="1" dirty="0"/>
              <a:t>Career Knowledge Agent</a:t>
            </a:r>
            <a:r>
              <a:rPr lang="en-US" dirty="0"/>
              <a:t> (fetches Career and job data) </a:t>
            </a:r>
          </a:p>
          <a:p>
            <a:pPr marL="285750" indent="-285750" fontAlgn="base">
              <a:buFont typeface="Arial" panose="020B0604020202020204" pitchFamily="34" charset="0"/>
              <a:buChar char="•"/>
            </a:pPr>
            <a:r>
              <a:rPr lang="en-US" b="1" dirty="0"/>
              <a:t>Career Recommendation Agent</a:t>
            </a:r>
            <a:r>
              <a:rPr lang="en-US" dirty="0"/>
              <a:t> (suggests personalized career paths) </a:t>
            </a:r>
          </a:p>
          <a:p>
            <a:pPr marL="285750" indent="-285750" fontAlgn="base">
              <a:buFont typeface="Arial" panose="020B0604020202020204" pitchFamily="34" charset="0"/>
              <a:buChar char="•"/>
            </a:pPr>
            <a:r>
              <a:rPr lang="en-US" b="1" dirty="0"/>
              <a:t>Skill </a:t>
            </a:r>
            <a:r>
              <a:rPr lang="en-US" b="1" dirty="0" err="1"/>
              <a:t>Developement</a:t>
            </a:r>
            <a:r>
              <a:rPr lang="en-US" b="1" dirty="0"/>
              <a:t> Agent</a:t>
            </a:r>
            <a:r>
              <a:rPr lang="en-US" dirty="0"/>
              <a:t> (recommends learning resources)</a:t>
            </a:r>
          </a:p>
          <a:p>
            <a:pPr marL="285750" indent="-285750" fontAlgn="base">
              <a:buFont typeface="Arial" panose="020B0604020202020204" pitchFamily="34" charset="0"/>
              <a:buChar char="•"/>
            </a:pPr>
            <a:r>
              <a:rPr lang="en-US" b="1" dirty="0"/>
              <a:t>Visualization Dashboard </a:t>
            </a:r>
            <a:r>
              <a:rPr lang="en-US" dirty="0"/>
              <a:t>– Show career readiness, skill progress, and recommended roadmap.</a:t>
            </a:r>
          </a:p>
          <a:p>
            <a:endParaRPr lang="en-IN" dirty="0"/>
          </a:p>
        </p:txBody>
      </p:sp>
      <p:sp>
        <p:nvSpPr>
          <p:cNvPr id="3" name="TextBox 2">
            <a:extLst>
              <a:ext uri="{FF2B5EF4-FFF2-40B4-BE49-F238E27FC236}">
                <a16:creationId xmlns:a16="http://schemas.microsoft.com/office/drawing/2014/main" id="{3847FA31-EA47-D27A-9D69-AF50A3080AEC}"/>
              </a:ext>
            </a:extLst>
          </p:cNvPr>
          <p:cNvSpPr txBox="1"/>
          <p:nvPr/>
        </p:nvSpPr>
        <p:spPr>
          <a:xfrm>
            <a:off x="576072" y="704088"/>
            <a:ext cx="7214616" cy="461665"/>
          </a:xfrm>
          <a:prstGeom prst="rect">
            <a:avLst/>
          </a:prstGeom>
          <a:noFill/>
        </p:spPr>
        <p:txBody>
          <a:bodyPr wrap="square" rtlCol="0">
            <a:spAutoFit/>
          </a:bodyPr>
          <a:lstStyle/>
          <a:p>
            <a:r>
              <a:rPr lang="en-US" sz="2400" b="1"/>
              <a:t>Problem Statement -</a:t>
            </a:r>
            <a:endParaRPr lang="en-IN" sz="2400" b="1"/>
          </a:p>
        </p:txBody>
      </p:sp>
    </p:spTree>
    <p:extLst>
      <p:ext uri="{BB962C8B-B14F-4D97-AF65-F5344CB8AC3E}">
        <p14:creationId xmlns:p14="http://schemas.microsoft.com/office/powerpoint/2010/main" val="2616533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576072" y="1234440"/>
            <a:ext cx="10607040" cy="4832092"/>
          </a:xfrm>
          <a:prstGeom prst="rect">
            <a:avLst/>
          </a:prstGeom>
          <a:noFill/>
        </p:spPr>
        <p:txBody>
          <a:bodyPr wrap="square" rtlCol="0">
            <a:spAutoFit/>
          </a:bodyPr>
          <a:lstStyle/>
          <a:p>
            <a:pPr fontAlgn="base"/>
            <a:endParaRPr lang="en-US" b="1" dirty="0"/>
          </a:p>
          <a:p>
            <a:r>
              <a:rPr lang="en-US" b="1" dirty="0"/>
              <a:t>Proposed Solution: AI-Powered Agentic Career Counseling Companion</a:t>
            </a:r>
          </a:p>
          <a:p>
            <a:r>
              <a:rPr lang="en-US" dirty="0"/>
              <a:t>The proposed solution is a </a:t>
            </a:r>
            <a:r>
              <a:rPr lang="en-US" b="1" dirty="0"/>
              <a:t>multi-agent AI-powered Career Counseling Companion </a:t>
            </a:r>
            <a:r>
              <a:rPr lang="en-US" dirty="0"/>
              <a:t>built using </a:t>
            </a:r>
            <a:r>
              <a:rPr lang="en-US" b="1" dirty="0"/>
              <a:t>IBM Bob, IBM watsonx.ai, and Granite Models</a:t>
            </a:r>
            <a:r>
              <a:rPr lang="en-US" dirty="0"/>
              <a:t> to provide personalized, real-time career guidance. The system addresses challenges in career planning, skill development, and job readiness through an intelligent, modular architecture.</a:t>
            </a:r>
          </a:p>
          <a:p>
            <a:r>
              <a:rPr lang="en-US" dirty="0"/>
              <a:t>At its core, the solution uses a </a:t>
            </a:r>
            <a:r>
              <a:rPr lang="en-US" b="1" dirty="0"/>
              <a:t>Retrieval-Augmented Generation (RAG) </a:t>
            </a:r>
            <a:r>
              <a:rPr lang="en-US" dirty="0"/>
              <a:t>pipeline to fetch accurate career information from trusted sources such as job portals, industry reports, and learning platforms. This data is stored in a vector database, enabling the system to retrieve and summarize career trends, required skills, certifications, and job opportunities using Granite models.</a:t>
            </a:r>
          </a:p>
          <a:p>
            <a:r>
              <a:rPr lang="en-US" dirty="0"/>
              <a:t>The system consists of four key agents:</a:t>
            </a:r>
          </a:p>
          <a:p>
            <a:pPr lvl="0"/>
            <a:r>
              <a:rPr lang="en-US" b="1" dirty="0"/>
              <a:t>Career Knowledge Agent </a:t>
            </a:r>
            <a:r>
              <a:rPr lang="en-US" dirty="0"/>
              <a:t>retrieves and summarizes career and industry information using RAG.</a:t>
            </a:r>
          </a:p>
          <a:p>
            <a:pPr lvl="0"/>
            <a:r>
              <a:rPr lang="en-US" b="1" dirty="0"/>
              <a:t>Career Recommendation Agent </a:t>
            </a:r>
            <a:r>
              <a:rPr lang="en-US" dirty="0"/>
              <a:t>suggests personalized career paths based on academic performance, skills, interests, and goals.</a:t>
            </a:r>
          </a:p>
          <a:p>
            <a:pPr lvl="0"/>
            <a:r>
              <a:rPr lang="en-US" b="1" dirty="0"/>
              <a:t>Skill Development Agent </a:t>
            </a:r>
            <a:r>
              <a:rPr lang="en-US" dirty="0"/>
              <a:t>identifies skill gaps and recommends courses, certifications, projects, and internships.</a:t>
            </a:r>
          </a:p>
          <a:p>
            <a:pPr lvl="0"/>
            <a:r>
              <a:rPr lang="en-US" b="1" dirty="0"/>
              <a:t>Progress Tracking Agent </a:t>
            </a:r>
            <a:r>
              <a:rPr lang="en-US" dirty="0"/>
              <a:t>monitors student achievements and provides continuous feedback with updated career recommendations.</a:t>
            </a:r>
          </a:p>
          <a:p>
            <a:r>
              <a:rPr lang="en-US" dirty="0"/>
              <a:t>The solution includes </a:t>
            </a:r>
            <a:r>
              <a:rPr lang="en-US" b="1" dirty="0"/>
              <a:t>a user-friendly dashboard </a:t>
            </a:r>
            <a:r>
              <a:rPr lang="en-US" dirty="0"/>
              <a:t>(built with </a:t>
            </a:r>
            <a:r>
              <a:rPr lang="en-US" dirty="0" err="1"/>
              <a:t>Streamlit</a:t>
            </a:r>
            <a:r>
              <a:rPr lang="en-US" dirty="0"/>
              <a:t> or React) that visualizes skill progress, career readiness, recommended learning roadmaps, and industry trends.</a:t>
            </a:r>
          </a:p>
          <a:p>
            <a:r>
              <a:rPr lang="en-US" dirty="0"/>
              <a:t>IBM Bob orchestrates agent workflows, while </a:t>
            </a:r>
            <a:r>
              <a:rPr lang="en-US" b="1" dirty="0"/>
              <a:t>watsonx.a</a:t>
            </a:r>
            <a:r>
              <a:rPr lang="en-US" dirty="0"/>
              <a:t>i enables scalable model deployment, embeddings, and AI governance. </a:t>
            </a:r>
            <a:r>
              <a:rPr lang="en-US" b="1" dirty="0"/>
              <a:t>Granite Models </a:t>
            </a:r>
            <a:r>
              <a:rPr lang="en-US" dirty="0"/>
              <a:t>power reasoning, summarization, and personalized career recommendations.</a:t>
            </a:r>
          </a:p>
          <a:p>
            <a:r>
              <a:rPr lang="en-US" dirty="0"/>
              <a:t>Overall, this solution delivers </a:t>
            </a:r>
            <a:r>
              <a:rPr lang="en-US" b="1" dirty="0"/>
              <a:t>an end-to-end intelligent career counseling assistant </a:t>
            </a:r>
            <a:r>
              <a:rPr lang="en-US" dirty="0"/>
              <a:t>that helps students make informed, future-ready career decisions with personalized guidance and real-time insights.</a:t>
            </a:r>
          </a:p>
          <a:p>
            <a:pPr fontAlgn="base"/>
            <a:endParaRPr lang="en-US" dirty="0"/>
          </a:p>
          <a:p>
            <a:endParaRPr lang="en-IN" dirty="0"/>
          </a:p>
        </p:txBody>
      </p:sp>
      <p:sp>
        <p:nvSpPr>
          <p:cNvPr id="3" name="TextBox 2">
            <a:extLst>
              <a:ext uri="{FF2B5EF4-FFF2-40B4-BE49-F238E27FC236}">
                <a16:creationId xmlns:a16="http://schemas.microsoft.com/office/drawing/2014/main" id="{527F30CC-07EF-8FCC-DA00-C9212F5DAECE}"/>
              </a:ext>
            </a:extLst>
          </p:cNvPr>
          <p:cNvSpPr txBox="1"/>
          <p:nvPr/>
        </p:nvSpPr>
        <p:spPr>
          <a:xfrm>
            <a:off x="576072" y="704088"/>
            <a:ext cx="7214616" cy="461665"/>
          </a:xfrm>
          <a:prstGeom prst="rect">
            <a:avLst/>
          </a:prstGeom>
          <a:noFill/>
        </p:spPr>
        <p:txBody>
          <a:bodyPr wrap="square" rtlCol="0">
            <a:spAutoFit/>
          </a:bodyPr>
          <a:lstStyle/>
          <a:p>
            <a:r>
              <a:rPr lang="en-US" sz="2400" b="1" dirty="0"/>
              <a:t>Proposed Solution -</a:t>
            </a:r>
            <a:endParaRPr lang="en-IN" sz="2400" b="1" dirty="0"/>
          </a:p>
        </p:txBody>
      </p:sp>
    </p:spTree>
    <p:extLst>
      <p:ext uri="{BB962C8B-B14F-4D97-AF65-F5344CB8AC3E}">
        <p14:creationId xmlns:p14="http://schemas.microsoft.com/office/powerpoint/2010/main" val="6194599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77240" y="484632"/>
            <a:ext cx="7123176" cy="461665"/>
          </a:xfrm>
          <a:prstGeom prst="rect">
            <a:avLst/>
          </a:prstGeom>
          <a:noFill/>
        </p:spPr>
        <p:txBody>
          <a:bodyPr wrap="square" lIns="91440" tIns="45720" rIns="91440" bIns="45720" rtlCol="0" anchor="t">
            <a:spAutoFit/>
          </a:bodyPr>
          <a:lstStyle/>
          <a:p>
            <a:r>
              <a:rPr lang="en-US" sz="2400" b="1"/>
              <a:t>Technology Used</a:t>
            </a:r>
            <a:endParaRPr lang="en-IN" sz="2400" b="1"/>
          </a:p>
        </p:txBody>
      </p:sp>
      <p:sp>
        <p:nvSpPr>
          <p:cNvPr id="3" name="TextBox 2">
            <a:extLst>
              <a:ext uri="{FF2B5EF4-FFF2-40B4-BE49-F238E27FC236}">
                <a16:creationId xmlns:a16="http://schemas.microsoft.com/office/drawing/2014/main" id="{4A7608B5-9906-EFCF-959A-E89FC2E3EE19}"/>
              </a:ext>
            </a:extLst>
          </p:cNvPr>
          <p:cNvSpPr txBox="1"/>
          <p:nvPr/>
        </p:nvSpPr>
        <p:spPr>
          <a:xfrm>
            <a:off x="777240" y="1207008"/>
            <a:ext cx="10515600" cy="5509200"/>
          </a:xfrm>
          <a:prstGeom prst="rect">
            <a:avLst/>
          </a:prstGeom>
          <a:noFill/>
        </p:spPr>
        <p:txBody>
          <a:bodyPr wrap="square" rtlCol="0">
            <a:spAutoFit/>
          </a:bodyPr>
          <a:lstStyle/>
          <a:p>
            <a:pPr marL="285750" indent="-285750">
              <a:buFont typeface="Arial" panose="020B0604020202020204" pitchFamily="34" charset="0"/>
              <a:buChar char="•"/>
            </a:pPr>
            <a:r>
              <a:rPr lang="en-US" sz="1800" b="1" dirty="0"/>
              <a:t>IBM Bob platform </a:t>
            </a:r>
            <a:r>
              <a:rPr lang="en-US" sz="1800" dirty="0"/>
              <a:t>-For designing and orchestrating multi-agent workflows visually</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IBM </a:t>
            </a:r>
            <a:r>
              <a:rPr lang="en-US" sz="1800" b="1" dirty="0" err="1"/>
              <a:t>Grainte</a:t>
            </a:r>
            <a:r>
              <a:rPr lang="en-US" sz="1800" b="1" dirty="0"/>
              <a:t> model </a:t>
            </a:r>
            <a:r>
              <a:rPr lang="en-US" sz="1800" dirty="0"/>
              <a:t>-  for </a:t>
            </a:r>
            <a:r>
              <a:rPr lang="en-US" sz="1800" dirty="0" err="1"/>
              <a:t>eg</a:t>
            </a:r>
            <a:r>
              <a:rPr lang="en-US" sz="1800" dirty="0"/>
              <a:t> – ibm-granite-3-2-8b – For natural language understanding, reasoning, and personalization</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IBM Cloud </a:t>
            </a:r>
            <a:r>
              <a:rPr lang="en-US" sz="1800" dirty="0"/>
              <a:t>– It provides the infrastructure to build, deploy, and scale the Nutrition Agent efficiently. IBM Cloud enables a </a:t>
            </a:r>
            <a:r>
              <a:rPr lang="en-US" sz="1800" b="1" dirty="0"/>
              <a:t>reliable, secure, and scalable environment</a:t>
            </a:r>
            <a:r>
              <a:rPr lang="en-US" sz="1800" dirty="0"/>
              <a:t> for deploying the Nutrition Agent.</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RAG– </a:t>
            </a:r>
            <a:r>
              <a:rPr lang="en-US" sz="1800" dirty="0"/>
              <a:t>RAG to </a:t>
            </a:r>
            <a:r>
              <a:rPr lang="en-US" sz="1800" b="1" dirty="0"/>
              <a:t>fetch real data first, then generate intelligent answers</a:t>
            </a:r>
            <a:r>
              <a:rPr lang="en-US" sz="1800" dirty="0"/>
              <a:t>, making the Nutrition Agent more trustworthy and effective.</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IBM Watsonx.ai - </a:t>
            </a:r>
            <a:r>
              <a:rPr lang="en-US" sz="1800" dirty="0"/>
              <a:t>For model deployment, embeddings, and AI governance</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IN" sz="1800" b="1" dirty="0"/>
              <a:t>Vector Database </a:t>
            </a:r>
            <a:r>
              <a:rPr lang="en-IN" sz="1800" dirty="0"/>
              <a:t>(FAISS/Chroma) – For RAG-based nutritional data retrieval</a:t>
            </a:r>
            <a:endParaRPr lang="en-US" sz="1800" dirty="0"/>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endParaRPr lang="en-US" sz="1800" dirty="0"/>
          </a:p>
          <a:p>
            <a:endParaRPr lang="en-US" dirty="0"/>
          </a:p>
          <a:p>
            <a:endParaRPr lang="en-IN" dirty="0"/>
          </a:p>
        </p:txBody>
      </p:sp>
    </p:spTree>
    <p:extLst>
      <p:ext uri="{BB962C8B-B14F-4D97-AF65-F5344CB8AC3E}">
        <p14:creationId xmlns:p14="http://schemas.microsoft.com/office/powerpoint/2010/main" val="4436039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A145802-2DD3-EEBA-7D44-210C05B98C91}"/>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a:sym typeface="Times New Roman"/>
              </a:rPr>
              <a:t>Required Files created using IBM bob -</a:t>
            </a:r>
            <a:endParaRPr sz="2400" b="1">
              <a:sym typeface="Times New Roman"/>
            </a:endParaRPr>
          </a:p>
        </p:txBody>
      </p:sp>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pic>
        <p:nvPicPr>
          <p:cNvPr id="4" name="Picture 3">
            <a:extLst>
              <a:ext uri="{FF2B5EF4-FFF2-40B4-BE49-F238E27FC236}">
                <a16:creationId xmlns:a16="http://schemas.microsoft.com/office/drawing/2014/main" id="{4E0E6648-9FFC-4C96-9348-DAFAA5E34956}"/>
              </a:ext>
            </a:extLst>
          </p:cNvPr>
          <p:cNvPicPr>
            <a:picLocks noChangeAspect="1"/>
          </p:cNvPicPr>
          <p:nvPr/>
        </p:nvPicPr>
        <p:blipFill>
          <a:blip r:embed="rId3"/>
          <a:stretch>
            <a:fillRect/>
          </a:stretch>
        </p:blipFill>
        <p:spPr>
          <a:xfrm>
            <a:off x="792480" y="863187"/>
            <a:ext cx="10509504" cy="5806000"/>
          </a:xfrm>
          <a:prstGeom prst="rect">
            <a:avLst/>
          </a:prstGeom>
        </p:spPr>
      </p:pic>
    </p:spTree>
    <p:extLst>
      <p:ext uri="{BB962C8B-B14F-4D97-AF65-F5344CB8AC3E}">
        <p14:creationId xmlns:p14="http://schemas.microsoft.com/office/powerpoint/2010/main" val="31149636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B64CF172-D2AF-03D8-F919-AA7827A0D96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3500" b="1" i="0" u="none" strike="noStrike" cap="none">
                <a:solidFill>
                  <a:srgbClr val="051D3A"/>
                </a:solidFill>
                <a:latin typeface="Times New Roman"/>
                <a:ea typeface="Times New Roman"/>
                <a:cs typeface="Times New Roman"/>
                <a:sym typeface="Times New Roman"/>
              </a:rPr>
              <a:t> </a:t>
            </a:r>
            <a:r>
              <a:rPr lang="en-US" sz="2400" b="1" i="0" u="none" strike="noStrike" cap="none">
                <a:solidFill>
                  <a:srgbClr val="051D3A"/>
                </a:solidFill>
                <a:latin typeface="Times New Roman"/>
                <a:ea typeface="Times New Roman"/>
                <a:cs typeface="Times New Roman"/>
                <a:sym typeface="Times New Roman"/>
              </a:rPr>
              <a:t>IBM Bob Screenshots:</a:t>
            </a:r>
            <a:endParaRPr sz="2400" b="1">
              <a:sym typeface="Times New Roman"/>
            </a:endParaRPr>
          </a:p>
        </p:txBody>
      </p:sp>
      <p:pic>
        <p:nvPicPr>
          <p:cNvPr id="7" name="Picture 6">
            <a:extLst>
              <a:ext uri="{FF2B5EF4-FFF2-40B4-BE49-F238E27FC236}">
                <a16:creationId xmlns:a16="http://schemas.microsoft.com/office/drawing/2014/main" id="{CBCC5445-407B-DB26-57CF-66859204B69D}"/>
              </a:ext>
            </a:extLst>
          </p:cNvPr>
          <p:cNvPicPr>
            <a:picLocks noChangeAspect="1"/>
          </p:cNvPicPr>
          <p:nvPr/>
        </p:nvPicPr>
        <p:blipFill>
          <a:blip r:embed="rId3"/>
          <a:stretch>
            <a:fillRect/>
          </a:stretch>
        </p:blipFill>
        <p:spPr>
          <a:xfrm>
            <a:off x="537590" y="862768"/>
            <a:ext cx="10877662" cy="5793107"/>
          </a:xfrm>
          <a:prstGeom prst="rect">
            <a:avLst/>
          </a:prstGeom>
        </p:spPr>
      </p:pic>
    </p:spTree>
    <p:extLst>
      <p:ext uri="{BB962C8B-B14F-4D97-AF65-F5344CB8AC3E}">
        <p14:creationId xmlns:p14="http://schemas.microsoft.com/office/powerpoint/2010/main" val="13165455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AA38B80-B7BD-D8BA-8351-73C81B6F2F20}"/>
              </a:ext>
            </a:extLst>
          </p:cNvPr>
          <p:cNvPicPr>
            <a:picLocks noChangeAspect="1"/>
          </p:cNvPicPr>
          <p:nvPr/>
        </p:nvPicPr>
        <p:blipFill>
          <a:blip r:embed="rId2"/>
          <a:stretch>
            <a:fillRect/>
          </a:stretch>
        </p:blipFill>
        <p:spPr>
          <a:xfrm>
            <a:off x="560439" y="356914"/>
            <a:ext cx="10756490" cy="5706152"/>
          </a:xfrm>
          <a:prstGeom prst="rect">
            <a:avLst/>
          </a:prstGeom>
        </p:spPr>
      </p:pic>
    </p:spTree>
    <p:extLst>
      <p:ext uri="{BB962C8B-B14F-4D97-AF65-F5344CB8AC3E}">
        <p14:creationId xmlns:p14="http://schemas.microsoft.com/office/powerpoint/2010/main" val="2323718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a:extLst>
              <a:ext uri="{FF2B5EF4-FFF2-40B4-BE49-F238E27FC236}">
                <a16:creationId xmlns:a16="http://schemas.microsoft.com/office/drawing/2014/main" id="{78578745-3233-E2C4-2AF4-55BA57C68D3F}"/>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r>
              <a:rPr lang="en-US" sz="2400" b="1">
                <a:solidFill>
                  <a:schemeClr val="dk1"/>
                </a:solidFill>
                <a:latin typeface="Calibri"/>
                <a:ea typeface="Calibri"/>
                <a:cs typeface="Calibri"/>
                <a:sym typeface="Calibri"/>
              </a:rPr>
              <a:t>Architecture blueprint for IBM bob:</a:t>
            </a:r>
            <a:endParaRPr lang="en-US" sz="2400"/>
          </a:p>
        </p:txBody>
      </p:sp>
      <p:pic>
        <p:nvPicPr>
          <p:cNvPr id="4" name="Picture 3">
            <a:extLst>
              <a:ext uri="{FF2B5EF4-FFF2-40B4-BE49-F238E27FC236}">
                <a16:creationId xmlns:a16="http://schemas.microsoft.com/office/drawing/2014/main" id="{2384F52D-B6FA-2867-0BFF-9FA61707A9A0}"/>
              </a:ext>
            </a:extLst>
          </p:cNvPr>
          <p:cNvPicPr>
            <a:picLocks noChangeAspect="1"/>
          </p:cNvPicPr>
          <p:nvPr/>
        </p:nvPicPr>
        <p:blipFill>
          <a:blip r:embed="rId3"/>
          <a:stretch>
            <a:fillRect/>
          </a:stretch>
        </p:blipFill>
        <p:spPr>
          <a:xfrm>
            <a:off x="537590" y="849781"/>
            <a:ext cx="11110452" cy="5845450"/>
          </a:xfrm>
          <a:prstGeom prst="rect">
            <a:avLst/>
          </a:prstGeom>
        </p:spPr>
      </p:pic>
    </p:spTree>
    <p:extLst>
      <p:ext uri="{BB962C8B-B14F-4D97-AF65-F5344CB8AC3E}">
        <p14:creationId xmlns:p14="http://schemas.microsoft.com/office/powerpoint/2010/main" val="4451951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6" name="Google Shape;196;p9"/>
          <p:cNvPicPr preferRelativeResize="0"/>
          <p:nvPr/>
        </p:nvPicPr>
        <p:blipFill rotWithShape="1">
          <a:blip r:embed="rId3">
            <a:alphaModFix/>
          </a:blip>
          <a:srcRect/>
          <a:stretch/>
        </p:blipFill>
        <p:spPr>
          <a:xfrm>
            <a:off x="8371985" y="1167493"/>
            <a:ext cx="3015343" cy="4523014"/>
          </a:xfrm>
          <a:prstGeom prst="rect">
            <a:avLst/>
          </a:prstGeom>
          <a:noFill/>
          <a:ln>
            <a:noFill/>
          </a:ln>
        </p:spPr>
      </p:pic>
      <p:sp>
        <p:nvSpPr>
          <p:cNvPr id="2" name="TextBox 1">
            <a:extLst>
              <a:ext uri="{FF2B5EF4-FFF2-40B4-BE49-F238E27FC236}">
                <a16:creationId xmlns:a16="http://schemas.microsoft.com/office/drawing/2014/main" id="{B84A7B44-8B20-5A39-ED43-DA98D0FC7976}"/>
              </a:ext>
            </a:extLst>
          </p:cNvPr>
          <p:cNvSpPr txBox="1"/>
          <p:nvPr/>
        </p:nvSpPr>
        <p:spPr>
          <a:xfrm>
            <a:off x="475488" y="283464"/>
            <a:ext cx="9317736" cy="584775"/>
          </a:xfrm>
          <a:prstGeom prst="rect">
            <a:avLst/>
          </a:prstGeom>
          <a:noFill/>
        </p:spPr>
        <p:txBody>
          <a:bodyPr wrap="square" rtlCol="0">
            <a:spAutoFit/>
          </a:bodyPr>
          <a:lstStyle/>
          <a:p>
            <a:r>
              <a:rPr lang="en-US" sz="3200" b="1"/>
              <a:t>Role of Agentic AI in the solution </a:t>
            </a:r>
            <a:endParaRPr lang="en-IN" sz="3200" b="1"/>
          </a:p>
        </p:txBody>
      </p:sp>
      <p:sp>
        <p:nvSpPr>
          <p:cNvPr id="3" name="TextBox 2">
            <a:extLst>
              <a:ext uri="{FF2B5EF4-FFF2-40B4-BE49-F238E27FC236}">
                <a16:creationId xmlns:a16="http://schemas.microsoft.com/office/drawing/2014/main" id="{322462E8-EB3A-DA7D-44CB-4E757803A755}"/>
              </a:ext>
            </a:extLst>
          </p:cNvPr>
          <p:cNvSpPr txBox="1"/>
          <p:nvPr/>
        </p:nvSpPr>
        <p:spPr>
          <a:xfrm>
            <a:off x="621792" y="1167493"/>
            <a:ext cx="7406640" cy="3323987"/>
          </a:xfrm>
          <a:prstGeom prst="rect">
            <a:avLst/>
          </a:prstGeom>
          <a:noFill/>
        </p:spPr>
        <p:txBody>
          <a:bodyPr wrap="square" rtlCol="0">
            <a:spAutoFit/>
          </a:bodyPr>
          <a:lstStyle/>
          <a:p>
            <a:r>
              <a:rPr lang="en-US" b="1" dirty="0"/>
              <a:t>Role of Agentic AI in Career Counseling Companion</a:t>
            </a:r>
          </a:p>
          <a:p>
            <a:r>
              <a:rPr lang="en-US" b="1" dirty="0"/>
              <a:t>Agentic AI</a:t>
            </a:r>
            <a:r>
              <a:rPr lang="en-US" dirty="0"/>
              <a:t> enables the Career Counseling Companion to function as an intelligent, autonomous system rather than a simple chatbot. Using </a:t>
            </a:r>
            <a:r>
              <a:rPr lang="en-US" b="1" dirty="0"/>
              <a:t>IBM watsonx.ai</a:t>
            </a:r>
            <a:r>
              <a:rPr lang="en-US" dirty="0"/>
              <a:t> and </a:t>
            </a:r>
            <a:r>
              <a:rPr lang="en-US" b="1" dirty="0"/>
              <a:t>IBM Granite Models</a:t>
            </a:r>
            <a:r>
              <a:rPr lang="en-US" dirty="0"/>
              <a:t>, it coordinates multiple specialized agents to deliver personalized career guidance.</a:t>
            </a:r>
          </a:p>
          <a:p>
            <a:r>
              <a:rPr lang="en-US" dirty="0"/>
              <a:t>Each agent performs a specific role—retrieving career information, recommending career paths, identifying skill gaps, and tracking student progress—while working together. This </a:t>
            </a:r>
            <a:r>
              <a:rPr lang="en-US" b="1" dirty="0"/>
              <a:t>multi-agent approach </a:t>
            </a:r>
            <a:r>
              <a:rPr lang="en-US" dirty="0"/>
              <a:t>ensures efficient task execution and accurate recommendations.</a:t>
            </a:r>
          </a:p>
          <a:p>
            <a:r>
              <a:rPr lang="en-US" dirty="0"/>
              <a:t>Agentic AI provides </a:t>
            </a:r>
            <a:r>
              <a:rPr lang="en-US" b="1" dirty="0"/>
              <a:t>context awareness </a:t>
            </a:r>
            <a:r>
              <a:rPr lang="en-US" dirty="0"/>
              <a:t>by understanding a student's academic performance, skills, interests, and career goals to generate tailored suggestions. It also supports </a:t>
            </a:r>
            <a:r>
              <a:rPr lang="en-US" b="1" dirty="0"/>
              <a:t>real-time adaptation</a:t>
            </a:r>
            <a:r>
              <a:rPr lang="en-US" dirty="0"/>
              <a:t>, continuously updating recommendations based on new achievements, certifications, and changing job market trends.</a:t>
            </a:r>
          </a:p>
          <a:p>
            <a:r>
              <a:rPr lang="en-US" dirty="0"/>
              <a:t>Overall, Agentic AI makes the system proactive, personalized, and goal-driven, acting like a </a:t>
            </a:r>
            <a:r>
              <a:rPr lang="en-US" b="1" dirty="0"/>
              <a:t>smart digital career counselor </a:t>
            </a:r>
            <a:r>
              <a:rPr lang="en-US" dirty="0"/>
              <a:t>that helps students make confident, future-ready career decisions.</a:t>
            </a:r>
          </a:p>
          <a:p>
            <a:endParaRPr lang="en-US" dirty="0"/>
          </a:p>
        </p:txBody>
      </p:sp>
    </p:spTree>
    <p:extLst>
      <p:ext uri="{BB962C8B-B14F-4D97-AF65-F5344CB8AC3E}">
        <p14:creationId xmlns:p14="http://schemas.microsoft.com/office/powerpoint/2010/main" val="40006969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55016524-E738-3D8C-3BB2-B0BE7C665318}"/>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D62F03A8-A8A8-CB93-006E-7173DC866F6F}"/>
              </a:ext>
            </a:extLst>
          </p:cNvPr>
          <p:cNvSpPr/>
          <p:nvPr/>
        </p:nvSpPr>
        <p:spPr>
          <a:xfrm>
            <a:off x="793192" y="3415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Token Usage </a:t>
            </a:r>
            <a:endParaRPr sz="2400" b="1">
              <a:sym typeface="Times New Roman"/>
            </a:endParaRPr>
          </a:p>
        </p:txBody>
      </p:sp>
      <p:sp>
        <p:nvSpPr>
          <p:cNvPr id="280" name="Google Shape;280;p18">
            <a:extLst>
              <a:ext uri="{FF2B5EF4-FFF2-40B4-BE49-F238E27FC236}">
                <a16:creationId xmlns:a16="http://schemas.microsoft.com/office/drawing/2014/main" id="{A4423EF4-BB52-2693-03DD-9F7D92D05218}"/>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FF042814-8077-DBD5-E8B6-E0D870CADB86}"/>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6A2761AF-8A54-98F2-52C2-794D9BA61C9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5" name="TextBox 4">
            <a:extLst>
              <a:ext uri="{FF2B5EF4-FFF2-40B4-BE49-F238E27FC236}">
                <a16:creationId xmlns:a16="http://schemas.microsoft.com/office/drawing/2014/main" id="{1BD576A0-BF64-32B6-1E59-49AA2C59C5CE}"/>
              </a:ext>
            </a:extLst>
          </p:cNvPr>
          <p:cNvSpPr txBox="1"/>
          <p:nvPr/>
        </p:nvSpPr>
        <p:spPr>
          <a:xfrm>
            <a:off x="897392" y="1042133"/>
            <a:ext cx="4371171"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11,761 token are used</a:t>
            </a:r>
          </a:p>
        </p:txBody>
      </p:sp>
      <p:pic>
        <p:nvPicPr>
          <p:cNvPr id="12" name="Picture 11" descr="A screenshot of a computer&#10;&#10;AI-generated content may be incorrect.">
            <a:extLst>
              <a:ext uri="{FF2B5EF4-FFF2-40B4-BE49-F238E27FC236}">
                <a16:creationId xmlns:a16="http://schemas.microsoft.com/office/drawing/2014/main" id="{3E29AF1D-88C4-87E5-74DF-4E97121E06CE}"/>
              </a:ext>
            </a:extLst>
          </p:cNvPr>
          <p:cNvPicPr>
            <a:picLocks noChangeAspect="1"/>
          </p:cNvPicPr>
          <p:nvPr/>
        </p:nvPicPr>
        <p:blipFill>
          <a:blip r:embed="rId3"/>
          <a:stretch>
            <a:fillRect/>
          </a:stretch>
        </p:blipFill>
        <p:spPr>
          <a:xfrm>
            <a:off x="114240" y="2453592"/>
            <a:ext cx="5095875" cy="2857500"/>
          </a:xfrm>
          <a:prstGeom prst="rect">
            <a:avLst/>
          </a:prstGeom>
        </p:spPr>
      </p:pic>
      <p:sp>
        <p:nvSpPr>
          <p:cNvPr id="14" name="TextBox 13">
            <a:extLst>
              <a:ext uri="{FF2B5EF4-FFF2-40B4-BE49-F238E27FC236}">
                <a16:creationId xmlns:a16="http://schemas.microsoft.com/office/drawing/2014/main" id="{7B8E599E-5B1D-59CD-4F1D-CEF8D0CA327B}"/>
              </a:ext>
            </a:extLst>
          </p:cNvPr>
          <p:cNvSpPr txBox="1"/>
          <p:nvPr/>
        </p:nvSpPr>
        <p:spPr>
          <a:xfrm>
            <a:off x="1278639" y="1718067"/>
            <a:ext cx="274319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u="sng"/>
              <a:t>Before Prompt</a:t>
            </a:r>
          </a:p>
        </p:txBody>
      </p:sp>
      <p:sp>
        <p:nvSpPr>
          <p:cNvPr id="15" name="TextBox 14">
            <a:extLst>
              <a:ext uri="{FF2B5EF4-FFF2-40B4-BE49-F238E27FC236}">
                <a16:creationId xmlns:a16="http://schemas.microsoft.com/office/drawing/2014/main" id="{B22EA981-5113-2D05-C1A2-169306E1D47C}"/>
              </a:ext>
            </a:extLst>
          </p:cNvPr>
          <p:cNvSpPr txBox="1"/>
          <p:nvPr/>
        </p:nvSpPr>
        <p:spPr>
          <a:xfrm>
            <a:off x="7106828" y="1722919"/>
            <a:ext cx="274319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u="sng"/>
              <a:t>After the Prompt</a:t>
            </a:r>
          </a:p>
        </p:txBody>
      </p:sp>
      <p:pic>
        <p:nvPicPr>
          <p:cNvPr id="3" name="Picture 2">
            <a:extLst>
              <a:ext uri="{FF2B5EF4-FFF2-40B4-BE49-F238E27FC236}">
                <a16:creationId xmlns:a16="http://schemas.microsoft.com/office/drawing/2014/main" id="{C2C04141-E599-0AEA-5A0B-638442B21715}"/>
              </a:ext>
            </a:extLst>
          </p:cNvPr>
          <p:cNvPicPr>
            <a:picLocks noChangeAspect="1"/>
          </p:cNvPicPr>
          <p:nvPr/>
        </p:nvPicPr>
        <p:blipFill>
          <a:blip r:embed="rId4"/>
          <a:stretch>
            <a:fillRect/>
          </a:stretch>
        </p:blipFill>
        <p:spPr>
          <a:xfrm>
            <a:off x="5952143" y="2392229"/>
            <a:ext cx="5646882" cy="3349809"/>
          </a:xfrm>
          <a:prstGeom prst="rect">
            <a:avLst/>
          </a:prstGeom>
        </p:spPr>
      </p:pic>
      <p:pic>
        <p:nvPicPr>
          <p:cNvPr id="4" name="Picture 3">
            <a:extLst>
              <a:ext uri="{FF2B5EF4-FFF2-40B4-BE49-F238E27FC236}">
                <a16:creationId xmlns:a16="http://schemas.microsoft.com/office/drawing/2014/main" id="{8FB3A319-675E-D061-3F97-9FD805A1549A}"/>
              </a:ext>
            </a:extLst>
          </p:cNvPr>
          <p:cNvPicPr>
            <a:picLocks noChangeAspect="1"/>
          </p:cNvPicPr>
          <p:nvPr/>
        </p:nvPicPr>
        <p:blipFill>
          <a:blip r:embed="rId5"/>
          <a:stretch>
            <a:fillRect/>
          </a:stretch>
        </p:blipFill>
        <p:spPr>
          <a:xfrm>
            <a:off x="114240" y="2392230"/>
            <a:ext cx="5303334" cy="3421507"/>
          </a:xfrm>
          <a:prstGeom prst="rect">
            <a:avLst/>
          </a:prstGeom>
        </p:spPr>
      </p:pic>
    </p:spTree>
    <p:extLst>
      <p:ext uri="{BB962C8B-B14F-4D97-AF65-F5344CB8AC3E}">
        <p14:creationId xmlns:p14="http://schemas.microsoft.com/office/powerpoint/2010/main" val="8934170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1863F011-FD59-2782-3732-0E3263170F5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78DA0257-5105-834D-150D-50732C7248D1}"/>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sp>
        <p:nvSpPr>
          <p:cNvPr id="280" name="Google Shape;280;p18">
            <a:extLst>
              <a:ext uri="{FF2B5EF4-FFF2-40B4-BE49-F238E27FC236}">
                <a16:creationId xmlns:a16="http://schemas.microsoft.com/office/drawing/2014/main" id="{827D77C8-2496-7668-B3B3-927FD4DB704D}"/>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46BDB3C0-B0E9-3C3A-A974-6BF43591F3FC}"/>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8CB1AEC3-7C17-0CCE-61FA-643373D6AE2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CCA977A3-5FA0-8FF5-E1D1-86C9ED676512}"/>
              </a:ext>
            </a:extLst>
          </p:cNvPr>
          <p:cNvSpPr txBox="1"/>
          <p:nvPr/>
        </p:nvSpPr>
        <p:spPr>
          <a:xfrm>
            <a:off x="1335024" y="1865376"/>
            <a:ext cx="6833922" cy="707886"/>
          </a:xfrm>
          <a:prstGeom prst="rect">
            <a:avLst/>
          </a:prstGeom>
          <a:noFill/>
        </p:spPr>
        <p:txBody>
          <a:bodyPr wrap="none" rtlCol="0">
            <a:spAutoFit/>
          </a:bodyPr>
          <a:lstStyle/>
          <a:p>
            <a:r>
              <a:rPr lang="en-US" sz="2000">
                <a:solidFill>
                  <a:srgbClr val="FF0000"/>
                </a:solidFill>
              </a:rPr>
              <a:t>Please put IBM Bob output screenshots with 2-3 prompts. </a:t>
            </a:r>
          </a:p>
          <a:p>
            <a:r>
              <a:rPr lang="en-US" sz="2000">
                <a:solidFill>
                  <a:srgbClr val="FF0000"/>
                </a:solidFill>
              </a:rPr>
              <a:t>You can take 2-3 more slides for each screenshot</a:t>
            </a:r>
            <a:endParaRPr lang="en-IN" sz="2000">
              <a:solidFill>
                <a:srgbClr val="FF0000"/>
              </a:solidFill>
            </a:endParaRPr>
          </a:p>
        </p:txBody>
      </p:sp>
      <p:pic>
        <p:nvPicPr>
          <p:cNvPr id="4" name="Picture 3">
            <a:extLst>
              <a:ext uri="{FF2B5EF4-FFF2-40B4-BE49-F238E27FC236}">
                <a16:creationId xmlns:a16="http://schemas.microsoft.com/office/drawing/2014/main" id="{E430EE8C-8F89-5938-483F-00452050511A}"/>
              </a:ext>
            </a:extLst>
          </p:cNvPr>
          <p:cNvPicPr>
            <a:picLocks noChangeAspect="1"/>
          </p:cNvPicPr>
          <p:nvPr/>
        </p:nvPicPr>
        <p:blipFill>
          <a:blip r:embed="rId3"/>
          <a:stretch>
            <a:fillRect/>
          </a:stretch>
        </p:blipFill>
        <p:spPr>
          <a:xfrm>
            <a:off x="409144" y="885593"/>
            <a:ext cx="11163874" cy="5715294"/>
          </a:xfrm>
          <a:prstGeom prst="rect">
            <a:avLst/>
          </a:prstGeom>
        </p:spPr>
      </p:pic>
      <p:pic>
        <p:nvPicPr>
          <p:cNvPr id="5" name="Picture 4">
            <a:extLst>
              <a:ext uri="{FF2B5EF4-FFF2-40B4-BE49-F238E27FC236}">
                <a16:creationId xmlns:a16="http://schemas.microsoft.com/office/drawing/2014/main" id="{6B2FCCE1-4E80-F0C3-2901-E0B6731BBA3A}"/>
              </a:ext>
            </a:extLst>
          </p:cNvPr>
          <p:cNvPicPr>
            <a:picLocks noChangeAspect="1"/>
          </p:cNvPicPr>
          <p:nvPr/>
        </p:nvPicPr>
        <p:blipFill>
          <a:blip r:embed="rId4"/>
          <a:stretch>
            <a:fillRect/>
          </a:stretch>
        </p:blipFill>
        <p:spPr>
          <a:xfrm>
            <a:off x="618982" y="1044263"/>
            <a:ext cx="10841498" cy="5625240"/>
          </a:xfrm>
          <a:prstGeom prst="rect">
            <a:avLst/>
          </a:prstGeom>
        </p:spPr>
      </p:pic>
    </p:spTree>
    <p:extLst>
      <p:ext uri="{BB962C8B-B14F-4D97-AF65-F5344CB8AC3E}">
        <p14:creationId xmlns:p14="http://schemas.microsoft.com/office/powerpoint/2010/main" val="14299618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A1254DC3-8448-76A3-8631-9484D98C80E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A5DD5E73-E4F8-AB1C-5A5A-D4EBAD6FD1B8}"/>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dirty="0">
                <a:sym typeface="Times New Roman"/>
              </a:rPr>
              <a:t> Project Output Screenshot</a:t>
            </a:r>
            <a:endParaRPr sz="2400" b="1" dirty="0">
              <a:sym typeface="Times New Roman"/>
            </a:endParaRPr>
          </a:p>
        </p:txBody>
      </p:sp>
      <p:sp>
        <p:nvSpPr>
          <p:cNvPr id="280" name="Google Shape;280;p18">
            <a:extLst>
              <a:ext uri="{FF2B5EF4-FFF2-40B4-BE49-F238E27FC236}">
                <a16:creationId xmlns:a16="http://schemas.microsoft.com/office/drawing/2014/main" id="{E6E4A7DC-3E1D-42C4-3256-8A3109D5036E}"/>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1EC4E285-5561-2096-3270-252023A42F4B}"/>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A8B1B6D-C213-0DFE-C434-B14C5F9945F5}"/>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692D13D-6B69-03D8-BA22-587B943A2572}"/>
              </a:ext>
            </a:extLst>
          </p:cNvPr>
          <p:cNvSpPr txBox="1"/>
          <p:nvPr/>
        </p:nvSpPr>
        <p:spPr>
          <a:xfrm>
            <a:off x="1335024" y="1865376"/>
            <a:ext cx="6833922" cy="707886"/>
          </a:xfrm>
          <a:prstGeom prst="rect">
            <a:avLst/>
          </a:prstGeom>
          <a:noFill/>
        </p:spPr>
        <p:txBody>
          <a:bodyPr wrap="none" rtlCol="0">
            <a:spAutoFit/>
          </a:bodyPr>
          <a:lstStyle/>
          <a:p>
            <a:r>
              <a:rPr lang="en-US" sz="2000">
                <a:solidFill>
                  <a:srgbClr val="FF0000"/>
                </a:solidFill>
              </a:rPr>
              <a:t>Please put IBM Bob output screenshots with 2-3 prompts. </a:t>
            </a:r>
          </a:p>
          <a:p>
            <a:r>
              <a:rPr lang="en-US" sz="2000">
                <a:solidFill>
                  <a:srgbClr val="FF0000"/>
                </a:solidFill>
              </a:rPr>
              <a:t>You can take 2-3 more slides for each screenshot</a:t>
            </a:r>
            <a:endParaRPr lang="en-IN" sz="2000">
              <a:solidFill>
                <a:srgbClr val="FF0000"/>
              </a:solidFill>
            </a:endParaRPr>
          </a:p>
        </p:txBody>
      </p:sp>
      <p:pic>
        <p:nvPicPr>
          <p:cNvPr id="5" name="Picture 4">
            <a:extLst>
              <a:ext uri="{FF2B5EF4-FFF2-40B4-BE49-F238E27FC236}">
                <a16:creationId xmlns:a16="http://schemas.microsoft.com/office/drawing/2014/main" id="{146B9DE6-C4BB-B81B-528A-B8789445C3FE}"/>
              </a:ext>
            </a:extLst>
          </p:cNvPr>
          <p:cNvPicPr>
            <a:picLocks noChangeAspect="1"/>
          </p:cNvPicPr>
          <p:nvPr/>
        </p:nvPicPr>
        <p:blipFill>
          <a:blip r:embed="rId3"/>
          <a:stretch>
            <a:fillRect/>
          </a:stretch>
        </p:blipFill>
        <p:spPr>
          <a:xfrm>
            <a:off x="561749" y="1004536"/>
            <a:ext cx="10493347" cy="5288404"/>
          </a:xfrm>
          <a:prstGeom prst="rect">
            <a:avLst/>
          </a:prstGeom>
        </p:spPr>
      </p:pic>
      <p:pic>
        <p:nvPicPr>
          <p:cNvPr id="4" name="Picture 3">
            <a:extLst>
              <a:ext uri="{FF2B5EF4-FFF2-40B4-BE49-F238E27FC236}">
                <a16:creationId xmlns:a16="http://schemas.microsoft.com/office/drawing/2014/main" id="{255AC887-59B5-D81D-6C62-3EF4E86FC740}"/>
              </a:ext>
            </a:extLst>
          </p:cNvPr>
          <p:cNvPicPr>
            <a:picLocks noChangeAspect="1"/>
          </p:cNvPicPr>
          <p:nvPr/>
        </p:nvPicPr>
        <p:blipFill>
          <a:blip r:embed="rId4"/>
          <a:stretch>
            <a:fillRect/>
          </a:stretch>
        </p:blipFill>
        <p:spPr>
          <a:xfrm>
            <a:off x="561749" y="816977"/>
            <a:ext cx="10493348" cy="5655238"/>
          </a:xfrm>
          <a:prstGeom prst="rect">
            <a:avLst/>
          </a:prstGeom>
        </p:spPr>
      </p:pic>
    </p:spTree>
    <p:extLst>
      <p:ext uri="{BB962C8B-B14F-4D97-AF65-F5344CB8AC3E}">
        <p14:creationId xmlns:p14="http://schemas.microsoft.com/office/powerpoint/2010/main" val="35850923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E3C4AEBB-2963-4EEE-D8ED-E3B5ABCFF21F}"/>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67AD5A0A-54A3-BC96-26BB-9C49B61555EC}"/>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dirty="0">
                <a:sym typeface="Times New Roman"/>
              </a:rPr>
              <a:t> Project Output Screenshot</a:t>
            </a:r>
            <a:endParaRPr sz="2400" b="1" dirty="0">
              <a:sym typeface="Times New Roman"/>
            </a:endParaRPr>
          </a:p>
        </p:txBody>
      </p:sp>
      <p:sp>
        <p:nvSpPr>
          <p:cNvPr id="280" name="Google Shape;280;p18">
            <a:extLst>
              <a:ext uri="{FF2B5EF4-FFF2-40B4-BE49-F238E27FC236}">
                <a16:creationId xmlns:a16="http://schemas.microsoft.com/office/drawing/2014/main" id="{A12490E1-7210-03FA-8406-7044E50A98B3}"/>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D0575C07-AA6B-0149-734C-B101314C9343}"/>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77B9C142-F05E-0FCB-045D-6B4B10F795C3}"/>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EB55001C-8880-8B09-8704-29D3F62E7A03}"/>
              </a:ext>
            </a:extLst>
          </p:cNvPr>
          <p:cNvSpPr txBox="1"/>
          <p:nvPr/>
        </p:nvSpPr>
        <p:spPr>
          <a:xfrm>
            <a:off x="1335024" y="1865376"/>
            <a:ext cx="6833922" cy="707886"/>
          </a:xfrm>
          <a:prstGeom prst="rect">
            <a:avLst/>
          </a:prstGeom>
          <a:noFill/>
        </p:spPr>
        <p:txBody>
          <a:bodyPr wrap="none" rtlCol="0">
            <a:spAutoFit/>
          </a:bodyPr>
          <a:lstStyle/>
          <a:p>
            <a:r>
              <a:rPr lang="en-US" sz="2000">
                <a:solidFill>
                  <a:srgbClr val="FF0000"/>
                </a:solidFill>
              </a:rPr>
              <a:t>Please put IBM Bob output screenshots with 2-3 prompts. </a:t>
            </a:r>
          </a:p>
          <a:p>
            <a:r>
              <a:rPr lang="en-US" sz="2000">
                <a:solidFill>
                  <a:srgbClr val="FF0000"/>
                </a:solidFill>
              </a:rPr>
              <a:t>You can take 2-3 more slides for each screenshot</a:t>
            </a:r>
            <a:endParaRPr lang="en-IN" sz="2000">
              <a:solidFill>
                <a:srgbClr val="FF0000"/>
              </a:solidFill>
            </a:endParaRPr>
          </a:p>
        </p:txBody>
      </p:sp>
      <p:pic>
        <p:nvPicPr>
          <p:cNvPr id="4" name="Picture 3">
            <a:extLst>
              <a:ext uri="{FF2B5EF4-FFF2-40B4-BE49-F238E27FC236}">
                <a16:creationId xmlns:a16="http://schemas.microsoft.com/office/drawing/2014/main" id="{BA6C1B5E-405A-0E58-2397-353A88D82B9B}"/>
              </a:ext>
            </a:extLst>
          </p:cNvPr>
          <p:cNvPicPr>
            <a:picLocks noChangeAspect="1"/>
          </p:cNvPicPr>
          <p:nvPr/>
        </p:nvPicPr>
        <p:blipFill>
          <a:blip r:embed="rId3"/>
          <a:stretch>
            <a:fillRect/>
          </a:stretch>
        </p:blipFill>
        <p:spPr>
          <a:xfrm>
            <a:off x="804493" y="800029"/>
            <a:ext cx="10583014" cy="5945011"/>
          </a:xfrm>
          <a:prstGeom prst="rect">
            <a:avLst/>
          </a:prstGeom>
        </p:spPr>
      </p:pic>
      <p:pic>
        <p:nvPicPr>
          <p:cNvPr id="5" name="Picture 4">
            <a:extLst>
              <a:ext uri="{FF2B5EF4-FFF2-40B4-BE49-F238E27FC236}">
                <a16:creationId xmlns:a16="http://schemas.microsoft.com/office/drawing/2014/main" id="{6B3ACE2B-BF05-DC0D-5127-3099AFA1F508}"/>
              </a:ext>
            </a:extLst>
          </p:cNvPr>
          <p:cNvPicPr>
            <a:picLocks noChangeAspect="1"/>
          </p:cNvPicPr>
          <p:nvPr/>
        </p:nvPicPr>
        <p:blipFill>
          <a:blip r:embed="rId4"/>
          <a:stretch>
            <a:fillRect/>
          </a:stretch>
        </p:blipFill>
        <p:spPr>
          <a:xfrm>
            <a:off x="658368" y="800029"/>
            <a:ext cx="10729139" cy="5705576"/>
          </a:xfrm>
          <a:prstGeom prst="rect">
            <a:avLst/>
          </a:prstGeom>
        </p:spPr>
      </p:pic>
      <p:sp>
        <p:nvSpPr>
          <p:cNvPr id="6" name="TextBox 5">
            <a:extLst>
              <a:ext uri="{FF2B5EF4-FFF2-40B4-BE49-F238E27FC236}">
                <a16:creationId xmlns:a16="http://schemas.microsoft.com/office/drawing/2014/main" id="{719BBF21-E370-EBDD-00EA-480A83F8DFFF}"/>
              </a:ext>
            </a:extLst>
          </p:cNvPr>
          <p:cNvSpPr txBox="1"/>
          <p:nvPr/>
        </p:nvSpPr>
        <p:spPr>
          <a:xfrm>
            <a:off x="4486656" y="451104"/>
            <a:ext cx="184731" cy="307777"/>
          </a:xfrm>
          <a:prstGeom prst="rect">
            <a:avLst/>
          </a:prstGeom>
          <a:noFill/>
        </p:spPr>
        <p:txBody>
          <a:bodyPr wrap="none" rtlCol="0">
            <a:spAutoFit/>
          </a:bodyPr>
          <a:lstStyle/>
          <a:p>
            <a:endParaRPr lang="en-US" dirty="0"/>
          </a:p>
        </p:txBody>
      </p:sp>
    </p:spTree>
    <p:extLst>
      <p:ext uri="{BB962C8B-B14F-4D97-AF65-F5344CB8AC3E}">
        <p14:creationId xmlns:p14="http://schemas.microsoft.com/office/powerpoint/2010/main" val="26019071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FC80BE2-600B-E5FA-53E4-17E0750BF90C}"/>
              </a:ext>
            </a:extLst>
          </p:cNvPr>
          <p:cNvSpPr txBox="1"/>
          <p:nvPr/>
        </p:nvSpPr>
        <p:spPr>
          <a:xfrm>
            <a:off x="451104" y="536448"/>
            <a:ext cx="4081567" cy="461665"/>
          </a:xfrm>
          <a:prstGeom prst="rect">
            <a:avLst/>
          </a:prstGeom>
          <a:noFill/>
        </p:spPr>
        <p:txBody>
          <a:bodyPr wrap="none" rtlCol="0">
            <a:spAutoFit/>
          </a:bodyPr>
          <a:lstStyle/>
          <a:p>
            <a:r>
              <a:rPr lang="en-US" sz="2400" b="1" dirty="0">
                <a:sym typeface="Times New Roman"/>
              </a:rPr>
              <a:t>Project Output Screenshot</a:t>
            </a:r>
            <a:endParaRPr lang="en-US" sz="2400" dirty="0"/>
          </a:p>
        </p:txBody>
      </p:sp>
      <p:pic>
        <p:nvPicPr>
          <p:cNvPr id="6" name="Picture 5">
            <a:extLst>
              <a:ext uri="{FF2B5EF4-FFF2-40B4-BE49-F238E27FC236}">
                <a16:creationId xmlns:a16="http://schemas.microsoft.com/office/drawing/2014/main" id="{46270AB1-E4AD-A553-1ABF-B29EB06A103C}"/>
              </a:ext>
            </a:extLst>
          </p:cNvPr>
          <p:cNvPicPr>
            <a:picLocks noChangeAspect="1"/>
          </p:cNvPicPr>
          <p:nvPr/>
        </p:nvPicPr>
        <p:blipFill>
          <a:blip r:embed="rId2"/>
          <a:stretch>
            <a:fillRect/>
          </a:stretch>
        </p:blipFill>
        <p:spPr>
          <a:xfrm>
            <a:off x="1011936" y="1121663"/>
            <a:ext cx="10351008" cy="5380789"/>
          </a:xfrm>
          <a:prstGeom prst="rect">
            <a:avLst/>
          </a:prstGeom>
        </p:spPr>
      </p:pic>
    </p:spTree>
    <p:extLst>
      <p:ext uri="{BB962C8B-B14F-4D97-AF65-F5344CB8AC3E}">
        <p14:creationId xmlns:p14="http://schemas.microsoft.com/office/powerpoint/2010/main" val="137291474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C87BB85-3082-CC52-6AC4-29ACB853C423}"/>
              </a:ext>
            </a:extLst>
          </p:cNvPr>
          <p:cNvPicPr>
            <a:picLocks noChangeAspect="1"/>
          </p:cNvPicPr>
          <p:nvPr/>
        </p:nvPicPr>
        <p:blipFill>
          <a:blip r:embed="rId2"/>
          <a:stretch>
            <a:fillRect/>
          </a:stretch>
        </p:blipFill>
        <p:spPr>
          <a:xfrm>
            <a:off x="841248" y="1036320"/>
            <a:ext cx="10509504" cy="5443861"/>
          </a:xfrm>
          <a:prstGeom prst="rect">
            <a:avLst/>
          </a:prstGeom>
        </p:spPr>
      </p:pic>
      <p:sp>
        <p:nvSpPr>
          <p:cNvPr id="4" name="TextBox 3">
            <a:extLst>
              <a:ext uri="{FF2B5EF4-FFF2-40B4-BE49-F238E27FC236}">
                <a16:creationId xmlns:a16="http://schemas.microsoft.com/office/drawing/2014/main" id="{587328CE-BE3D-C6EC-A42E-DF97AE4CB985}"/>
              </a:ext>
            </a:extLst>
          </p:cNvPr>
          <p:cNvSpPr txBox="1"/>
          <p:nvPr/>
        </p:nvSpPr>
        <p:spPr>
          <a:xfrm>
            <a:off x="304800" y="377819"/>
            <a:ext cx="4081567" cy="677108"/>
          </a:xfrm>
          <a:prstGeom prst="rect">
            <a:avLst/>
          </a:prstGeom>
          <a:noFill/>
        </p:spPr>
        <p:txBody>
          <a:bodyPr wrap="none" rtlCol="0">
            <a:spAutoFit/>
          </a:bodyPr>
          <a:lstStyle/>
          <a:p>
            <a:r>
              <a:rPr lang="en-US" sz="2400" b="1" dirty="0">
                <a:sym typeface="Times New Roman"/>
              </a:rPr>
              <a:t>Project Output Screenshot</a:t>
            </a:r>
            <a:endParaRPr lang="en-US" sz="2400" dirty="0"/>
          </a:p>
          <a:p>
            <a:endParaRPr lang="en-US" dirty="0"/>
          </a:p>
        </p:txBody>
      </p:sp>
    </p:spTree>
    <p:extLst>
      <p:ext uri="{BB962C8B-B14F-4D97-AF65-F5344CB8AC3E}">
        <p14:creationId xmlns:p14="http://schemas.microsoft.com/office/powerpoint/2010/main" val="102295419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B7D2F4D-6102-A5C9-F667-2A17ADC16228}"/>
              </a:ext>
            </a:extLst>
          </p:cNvPr>
          <p:cNvPicPr>
            <a:picLocks noChangeAspect="1"/>
          </p:cNvPicPr>
          <p:nvPr/>
        </p:nvPicPr>
        <p:blipFill>
          <a:blip r:embed="rId2"/>
          <a:stretch>
            <a:fillRect/>
          </a:stretch>
        </p:blipFill>
        <p:spPr>
          <a:xfrm>
            <a:off x="1071716" y="943897"/>
            <a:ext cx="10137058" cy="5703054"/>
          </a:xfrm>
          <a:prstGeom prst="rect">
            <a:avLst/>
          </a:prstGeom>
        </p:spPr>
      </p:pic>
      <p:sp>
        <p:nvSpPr>
          <p:cNvPr id="4" name="TextBox 3">
            <a:extLst>
              <a:ext uri="{FF2B5EF4-FFF2-40B4-BE49-F238E27FC236}">
                <a16:creationId xmlns:a16="http://schemas.microsoft.com/office/drawing/2014/main" id="{D6177DA8-9C0D-2B58-93FE-AADB6BA8D00F}"/>
              </a:ext>
            </a:extLst>
          </p:cNvPr>
          <p:cNvSpPr txBox="1"/>
          <p:nvPr/>
        </p:nvSpPr>
        <p:spPr>
          <a:xfrm>
            <a:off x="383458" y="266789"/>
            <a:ext cx="4081567" cy="677108"/>
          </a:xfrm>
          <a:prstGeom prst="rect">
            <a:avLst/>
          </a:prstGeom>
          <a:noFill/>
        </p:spPr>
        <p:txBody>
          <a:bodyPr wrap="none" rtlCol="0">
            <a:spAutoFit/>
          </a:bodyPr>
          <a:lstStyle/>
          <a:p>
            <a:r>
              <a:rPr lang="en-US" sz="2400" b="1" dirty="0">
                <a:sym typeface="Times New Roman"/>
              </a:rPr>
              <a:t>Project Output Screenshot</a:t>
            </a:r>
            <a:endParaRPr lang="en-US" sz="2400" dirty="0"/>
          </a:p>
          <a:p>
            <a:endParaRPr lang="en-US" dirty="0"/>
          </a:p>
        </p:txBody>
      </p:sp>
    </p:spTree>
    <p:extLst>
      <p:ext uri="{BB962C8B-B14F-4D97-AF65-F5344CB8AC3E}">
        <p14:creationId xmlns:p14="http://schemas.microsoft.com/office/powerpoint/2010/main" val="96928555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C854809-C1E5-1C00-1E98-17E55EC4142D}"/>
              </a:ext>
            </a:extLst>
          </p:cNvPr>
          <p:cNvPicPr>
            <a:picLocks noChangeAspect="1"/>
          </p:cNvPicPr>
          <p:nvPr/>
        </p:nvPicPr>
        <p:blipFill>
          <a:blip r:embed="rId2"/>
          <a:stretch>
            <a:fillRect/>
          </a:stretch>
        </p:blipFill>
        <p:spPr>
          <a:xfrm>
            <a:off x="1091381" y="1209368"/>
            <a:ext cx="10028904" cy="5426879"/>
          </a:xfrm>
          <a:prstGeom prst="rect">
            <a:avLst/>
          </a:prstGeom>
        </p:spPr>
      </p:pic>
      <p:sp>
        <p:nvSpPr>
          <p:cNvPr id="4" name="TextBox 3">
            <a:extLst>
              <a:ext uri="{FF2B5EF4-FFF2-40B4-BE49-F238E27FC236}">
                <a16:creationId xmlns:a16="http://schemas.microsoft.com/office/drawing/2014/main" id="{6A303899-AF6C-5805-E7B2-70150EBCB784}"/>
              </a:ext>
            </a:extLst>
          </p:cNvPr>
          <p:cNvSpPr txBox="1"/>
          <p:nvPr/>
        </p:nvSpPr>
        <p:spPr>
          <a:xfrm>
            <a:off x="393290" y="532260"/>
            <a:ext cx="4081567" cy="677108"/>
          </a:xfrm>
          <a:prstGeom prst="rect">
            <a:avLst/>
          </a:prstGeom>
          <a:noFill/>
        </p:spPr>
        <p:txBody>
          <a:bodyPr wrap="none" rtlCol="0">
            <a:spAutoFit/>
          </a:bodyPr>
          <a:lstStyle/>
          <a:p>
            <a:r>
              <a:rPr lang="en-US" sz="2400" b="1" dirty="0">
                <a:sym typeface="Times New Roman"/>
              </a:rPr>
              <a:t>Project Output Screenshot</a:t>
            </a:r>
            <a:endParaRPr lang="en-US" sz="2400" dirty="0"/>
          </a:p>
          <a:p>
            <a:endParaRPr lang="en-US" dirty="0"/>
          </a:p>
        </p:txBody>
      </p:sp>
    </p:spTree>
    <p:extLst>
      <p:ext uri="{BB962C8B-B14F-4D97-AF65-F5344CB8AC3E}">
        <p14:creationId xmlns:p14="http://schemas.microsoft.com/office/powerpoint/2010/main" val="210714448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BDB3041-C4FD-E5DA-EB93-1D6FA8DB2178}"/>
              </a:ext>
            </a:extLst>
          </p:cNvPr>
          <p:cNvPicPr>
            <a:picLocks noChangeAspect="1"/>
          </p:cNvPicPr>
          <p:nvPr/>
        </p:nvPicPr>
        <p:blipFill>
          <a:blip r:embed="rId2"/>
          <a:stretch>
            <a:fillRect/>
          </a:stretch>
        </p:blipFill>
        <p:spPr>
          <a:xfrm>
            <a:off x="1268360" y="1189703"/>
            <a:ext cx="9960079" cy="5438188"/>
          </a:xfrm>
          <a:prstGeom prst="rect">
            <a:avLst/>
          </a:prstGeom>
        </p:spPr>
      </p:pic>
      <p:sp>
        <p:nvSpPr>
          <p:cNvPr id="4" name="TextBox 3">
            <a:extLst>
              <a:ext uri="{FF2B5EF4-FFF2-40B4-BE49-F238E27FC236}">
                <a16:creationId xmlns:a16="http://schemas.microsoft.com/office/drawing/2014/main" id="{D5B6402F-AF54-E204-4241-7C7C1C8D5D08}"/>
              </a:ext>
            </a:extLst>
          </p:cNvPr>
          <p:cNvSpPr txBox="1"/>
          <p:nvPr/>
        </p:nvSpPr>
        <p:spPr>
          <a:xfrm>
            <a:off x="550607" y="512595"/>
            <a:ext cx="4081567" cy="677108"/>
          </a:xfrm>
          <a:prstGeom prst="rect">
            <a:avLst/>
          </a:prstGeom>
          <a:noFill/>
        </p:spPr>
        <p:txBody>
          <a:bodyPr wrap="none" rtlCol="0">
            <a:spAutoFit/>
          </a:bodyPr>
          <a:lstStyle/>
          <a:p>
            <a:r>
              <a:rPr lang="en-US" sz="2400" b="1" dirty="0">
                <a:sym typeface="Times New Roman"/>
              </a:rPr>
              <a:t>Project Output Screenshot</a:t>
            </a:r>
            <a:endParaRPr lang="en-US" sz="2400" dirty="0"/>
          </a:p>
          <a:p>
            <a:endParaRPr lang="en-US" dirty="0"/>
          </a:p>
        </p:txBody>
      </p:sp>
    </p:spTree>
    <p:extLst>
      <p:ext uri="{BB962C8B-B14F-4D97-AF65-F5344CB8AC3E}">
        <p14:creationId xmlns:p14="http://schemas.microsoft.com/office/powerpoint/2010/main" val="53802043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F94A0A5-8B01-5FFE-2A5B-E7170ED8A9C2}"/>
              </a:ext>
            </a:extLst>
          </p:cNvPr>
          <p:cNvPicPr>
            <a:picLocks noChangeAspect="1"/>
          </p:cNvPicPr>
          <p:nvPr/>
        </p:nvPicPr>
        <p:blipFill>
          <a:blip r:embed="rId2"/>
          <a:stretch>
            <a:fillRect/>
          </a:stretch>
        </p:blipFill>
        <p:spPr>
          <a:xfrm>
            <a:off x="1425677" y="993058"/>
            <a:ext cx="9694608" cy="5641186"/>
          </a:xfrm>
          <a:prstGeom prst="rect">
            <a:avLst/>
          </a:prstGeom>
        </p:spPr>
      </p:pic>
      <p:sp>
        <p:nvSpPr>
          <p:cNvPr id="4" name="TextBox 3">
            <a:extLst>
              <a:ext uri="{FF2B5EF4-FFF2-40B4-BE49-F238E27FC236}">
                <a16:creationId xmlns:a16="http://schemas.microsoft.com/office/drawing/2014/main" id="{7DAFD12C-D6A1-4002-3691-12623D78252C}"/>
              </a:ext>
            </a:extLst>
          </p:cNvPr>
          <p:cNvSpPr txBox="1"/>
          <p:nvPr/>
        </p:nvSpPr>
        <p:spPr>
          <a:xfrm>
            <a:off x="452284" y="315950"/>
            <a:ext cx="4081567" cy="677108"/>
          </a:xfrm>
          <a:prstGeom prst="rect">
            <a:avLst/>
          </a:prstGeom>
          <a:noFill/>
        </p:spPr>
        <p:txBody>
          <a:bodyPr wrap="none" rtlCol="0">
            <a:spAutoFit/>
          </a:bodyPr>
          <a:lstStyle/>
          <a:p>
            <a:r>
              <a:rPr lang="en-US" sz="2400" b="1" dirty="0">
                <a:sym typeface="Times New Roman"/>
              </a:rPr>
              <a:t>Project Output Screenshot</a:t>
            </a:r>
            <a:endParaRPr lang="en-US" sz="2400" dirty="0"/>
          </a:p>
          <a:p>
            <a:endParaRPr lang="en-US" dirty="0"/>
          </a:p>
        </p:txBody>
      </p:sp>
    </p:spTree>
    <p:extLst>
      <p:ext uri="{BB962C8B-B14F-4D97-AF65-F5344CB8AC3E}">
        <p14:creationId xmlns:p14="http://schemas.microsoft.com/office/powerpoint/2010/main" val="366167487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1424AA7-BC1D-2605-A6BF-E1187A1BC5D2}"/>
              </a:ext>
            </a:extLst>
          </p:cNvPr>
          <p:cNvPicPr>
            <a:picLocks noChangeAspect="1"/>
          </p:cNvPicPr>
          <p:nvPr/>
        </p:nvPicPr>
        <p:blipFill>
          <a:blip r:embed="rId2"/>
          <a:stretch>
            <a:fillRect/>
          </a:stretch>
        </p:blipFill>
        <p:spPr>
          <a:xfrm>
            <a:off x="1061884" y="943897"/>
            <a:ext cx="9910916" cy="5693524"/>
          </a:xfrm>
          <a:prstGeom prst="rect">
            <a:avLst/>
          </a:prstGeom>
        </p:spPr>
      </p:pic>
      <p:sp>
        <p:nvSpPr>
          <p:cNvPr id="4" name="TextBox 3">
            <a:extLst>
              <a:ext uri="{FF2B5EF4-FFF2-40B4-BE49-F238E27FC236}">
                <a16:creationId xmlns:a16="http://schemas.microsoft.com/office/drawing/2014/main" id="{21C30B05-A6A2-DE8E-AA60-FECE52B83FC5}"/>
              </a:ext>
            </a:extLst>
          </p:cNvPr>
          <p:cNvSpPr txBox="1"/>
          <p:nvPr/>
        </p:nvSpPr>
        <p:spPr>
          <a:xfrm>
            <a:off x="530943" y="363794"/>
            <a:ext cx="4081567" cy="677108"/>
          </a:xfrm>
          <a:prstGeom prst="rect">
            <a:avLst/>
          </a:prstGeom>
          <a:noFill/>
        </p:spPr>
        <p:txBody>
          <a:bodyPr wrap="none" rtlCol="0">
            <a:spAutoFit/>
          </a:bodyPr>
          <a:lstStyle/>
          <a:p>
            <a:r>
              <a:rPr lang="en-US" sz="2400" b="1" dirty="0">
                <a:sym typeface="Times New Roman"/>
              </a:rPr>
              <a:t>Project Output Screenshot</a:t>
            </a:r>
            <a:endParaRPr lang="en-US" sz="2400" dirty="0"/>
          </a:p>
          <a:p>
            <a:endParaRPr lang="en-US" dirty="0"/>
          </a:p>
        </p:txBody>
      </p:sp>
    </p:spTree>
    <p:extLst>
      <p:ext uri="{BB962C8B-B14F-4D97-AF65-F5344CB8AC3E}">
        <p14:creationId xmlns:p14="http://schemas.microsoft.com/office/powerpoint/2010/main" val="406436305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7D2A91F-282D-DD8A-7BF1-67F45CFA49FB}"/>
              </a:ext>
            </a:extLst>
          </p:cNvPr>
          <p:cNvPicPr>
            <a:picLocks noChangeAspect="1"/>
          </p:cNvPicPr>
          <p:nvPr/>
        </p:nvPicPr>
        <p:blipFill>
          <a:blip r:embed="rId2"/>
          <a:stretch>
            <a:fillRect/>
          </a:stretch>
        </p:blipFill>
        <p:spPr>
          <a:xfrm>
            <a:off x="963560" y="1179871"/>
            <a:ext cx="10441859" cy="5448177"/>
          </a:xfrm>
          <a:prstGeom prst="rect">
            <a:avLst/>
          </a:prstGeom>
        </p:spPr>
      </p:pic>
      <p:sp>
        <p:nvSpPr>
          <p:cNvPr id="4" name="TextBox 3">
            <a:extLst>
              <a:ext uri="{FF2B5EF4-FFF2-40B4-BE49-F238E27FC236}">
                <a16:creationId xmlns:a16="http://schemas.microsoft.com/office/drawing/2014/main" id="{2DBE08C6-9C05-0FCF-AFC0-A10CA1CD8063}"/>
              </a:ext>
            </a:extLst>
          </p:cNvPr>
          <p:cNvSpPr txBox="1"/>
          <p:nvPr/>
        </p:nvSpPr>
        <p:spPr>
          <a:xfrm>
            <a:off x="481780" y="580103"/>
            <a:ext cx="4081567" cy="677108"/>
          </a:xfrm>
          <a:prstGeom prst="rect">
            <a:avLst/>
          </a:prstGeom>
          <a:noFill/>
        </p:spPr>
        <p:txBody>
          <a:bodyPr wrap="none" rtlCol="0">
            <a:spAutoFit/>
          </a:bodyPr>
          <a:lstStyle/>
          <a:p>
            <a:r>
              <a:rPr lang="en-US" sz="2400" b="1" dirty="0">
                <a:sym typeface="Times New Roman"/>
              </a:rPr>
              <a:t>Project Output Screenshot</a:t>
            </a:r>
            <a:endParaRPr lang="en-US" sz="2400" dirty="0"/>
          </a:p>
          <a:p>
            <a:endParaRPr lang="en-US" dirty="0"/>
          </a:p>
        </p:txBody>
      </p:sp>
    </p:spTree>
    <p:extLst>
      <p:ext uri="{BB962C8B-B14F-4D97-AF65-F5344CB8AC3E}">
        <p14:creationId xmlns:p14="http://schemas.microsoft.com/office/powerpoint/2010/main" val="114905346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C278962-368C-2F12-3700-93977CF0CB90}"/>
              </a:ext>
            </a:extLst>
          </p:cNvPr>
          <p:cNvPicPr>
            <a:picLocks noChangeAspect="1"/>
          </p:cNvPicPr>
          <p:nvPr/>
        </p:nvPicPr>
        <p:blipFill>
          <a:blip r:embed="rId2"/>
          <a:stretch>
            <a:fillRect/>
          </a:stretch>
        </p:blipFill>
        <p:spPr>
          <a:xfrm>
            <a:off x="1170039" y="1356852"/>
            <a:ext cx="9586452" cy="5258332"/>
          </a:xfrm>
          <a:prstGeom prst="rect">
            <a:avLst/>
          </a:prstGeom>
        </p:spPr>
      </p:pic>
      <p:sp>
        <p:nvSpPr>
          <p:cNvPr id="4" name="TextBox 3">
            <a:extLst>
              <a:ext uri="{FF2B5EF4-FFF2-40B4-BE49-F238E27FC236}">
                <a16:creationId xmlns:a16="http://schemas.microsoft.com/office/drawing/2014/main" id="{2F396A92-15D0-FCF8-BE35-924819A70915}"/>
              </a:ext>
            </a:extLst>
          </p:cNvPr>
          <p:cNvSpPr txBox="1"/>
          <p:nvPr/>
        </p:nvSpPr>
        <p:spPr>
          <a:xfrm>
            <a:off x="383458" y="501445"/>
            <a:ext cx="4081567" cy="677108"/>
          </a:xfrm>
          <a:prstGeom prst="rect">
            <a:avLst/>
          </a:prstGeom>
          <a:noFill/>
        </p:spPr>
        <p:txBody>
          <a:bodyPr wrap="none" rtlCol="0">
            <a:spAutoFit/>
          </a:bodyPr>
          <a:lstStyle/>
          <a:p>
            <a:r>
              <a:rPr lang="en-US" sz="2400" b="1" dirty="0">
                <a:sym typeface="Times New Roman"/>
              </a:rPr>
              <a:t>Project Output Screenshot</a:t>
            </a:r>
            <a:endParaRPr lang="en-US" sz="2400" dirty="0"/>
          </a:p>
          <a:p>
            <a:endParaRPr lang="en-US" dirty="0"/>
          </a:p>
        </p:txBody>
      </p:sp>
    </p:spTree>
    <p:extLst>
      <p:ext uri="{BB962C8B-B14F-4D97-AF65-F5344CB8AC3E}">
        <p14:creationId xmlns:p14="http://schemas.microsoft.com/office/powerpoint/2010/main" val="237618293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777240" y="484632"/>
            <a:ext cx="7123176" cy="461665"/>
          </a:xfrm>
          <a:prstGeom prst="rect">
            <a:avLst/>
          </a:prstGeom>
          <a:noFill/>
        </p:spPr>
        <p:txBody>
          <a:bodyPr wrap="square" rtlCol="0">
            <a:spAutoFit/>
          </a:bodyPr>
          <a:lstStyle/>
          <a:p>
            <a:r>
              <a:rPr lang="en-US" sz="2400" b="1" dirty="0"/>
              <a:t>Novelty and Uniqueness</a:t>
            </a:r>
            <a:endParaRPr lang="en-IN" sz="2400" b="1" dirty="0"/>
          </a:p>
        </p:txBody>
      </p:sp>
      <p:sp>
        <p:nvSpPr>
          <p:cNvPr id="3" name="TextBox 2">
            <a:extLst>
              <a:ext uri="{FF2B5EF4-FFF2-40B4-BE49-F238E27FC236}">
                <a16:creationId xmlns:a16="http://schemas.microsoft.com/office/drawing/2014/main" id="{ED65F54F-855A-0DB6-09A6-3212C5F7405B}"/>
              </a:ext>
            </a:extLst>
          </p:cNvPr>
          <p:cNvSpPr txBox="1"/>
          <p:nvPr/>
        </p:nvSpPr>
        <p:spPr>
          <a:xfrm>
            <a:off x="777240" y="1207008"/>
            <a:ext cx="11301984" cy="4801314"/>
          </a:xfrm>
          <a:prstGeom prst="rect">
            <a:avLst/>
          </a:prstGeom>
          <a:noFill/>
        </p:spPr>
        <p:txBody>
          <a:bodyPr wrap="square" rtlCol="0">
            <a:spAutoFit/>
          </a:bodyPr>
          <a:lstStyle/>
          <a:p>
            <a:r>
              <a:rPr lang="en-US" sz="1800" dirty="0"/>
              <a:t>The proposed Agentic Career Counseling Companion stands out by combining Agentic AI, RAG, and personalization into a single intelligent career guidance system.</a:t>
            </a:r>
          </a:p>
          <a:p>
            <a:endParaRPr lang="en-IN" sz="1800" dirty="0"/>
          </a:p>
          <a:p>
            <a:r>
              <a:rPr lang="en-IN" sz="1800" b="1" dirty="0"/>
              <a:t>Multi-Agent Intelligence</a:t>
            </a:r>
            <a:r>
              <a:rPr lang="en-IN" sz="1800" dirty="0"/>
              <a:t> – </a:t>
            </a:r>
            <a:r>
              <a:rPr lang="en-US" sz="1800" dirty="0"/>
              <a:t>Multiple specialized agents collaborate to provide accurate and context-aware career recommendations.</a:t>
            </a:r>
            <a:r>
              <a:rPr lang="en-IN" sz="1800" dirty="0"/>
              <a:t> </a:t>
            </a:r>
          </a:p>
          <a:p>
            <a:r>
              <a:rPr lang="en-IN" sz="1800" b="1" dirty="0"/>
              <a:t>RAG-Based Accuracy</a:t>
            </a:r>
            <a:r>
              <a:rPr lang="en-IN" sz="1800" dirty="0"/>
              <a:t> – </a:t>
            </a:r>
            <a:r>
              <a:rPr lang="en-US" sz="1800" dirty="0"/>
              <a:t>Combines real-time career data retrieval with AI-generated insights for reliable guidance.</a:t>
            </a:r>
            <a:endParaRPr lang="en-IN" sz="1800" dirty="0"/>
          </a:p>
          <a:p>
            <a:r>
              <a:rPr lang="en-IN" sz="1800" b="1" dirty="0"/>
              <a:t>Hyper-Personalization</a:t>
            </a:r>
            <a:r>
              <a:rPr lang="en-IN" sz="1800" dirty="0"/>
              <a:t> – </a:t>
            </a:r>
            <a:r>
              <a:rPr lang="en-US" sz="1800" dirty="0"/>
              <a:t>Tailors career paths based on academic performance, skills, interests, and career goals.</a:t>
            </a:r>
            <a:endParaRPr lang="en-IN" sz="1800" dirty="0"/>
          </a:p>
          <a:p>
            <a:r>
              <a:rPr lang="en-IN" sz="1800" b="1" dirty="0"/>
              <a:t>Real-Time Adaption</a:t>
            </a:r>
            <a:r>
              <a:rPr lang="en-IN" sz="1800" dirty="0"/>
              <a:t> – </a:t>
            </a:r>
            <a:r>
              <a:rPr lang="en-US" sz="1800" dirty="0"/>
              <a:t>Continuously updates recommendations as students gain new skills, certifications, and internships.</a:t>
            </a:r>
            <a:endParaRPr lang="en-IN" sz="1800" dirty="0"/>
          </a:p>
          <a:p>
            <a:r>
              <a:rPr lang="en-US" sz="1800" b="1" dirty="0"/>
              <a:t>Skill Gap Analysis </a:t>
            </a:r>
            <a:r>
              <a:rPr lang="en-US" sz="1800" dirty="0"/>
              <a:t>– Identifies missing skills and recommends relevant courses, projects, and certifications</a:t>
            </a:r>
            <a:r>
              <a:rPr lang="en-IN" sz="1800" dirty="0"/>
              <a:t>. </a:t>
            </a:r>
          </a:p>
          <a:p>
            <a:r>
              <a:rPr lang="en-IN" sz="1800" b="1" dirty="0"/>
              <a:t>Scalable &amp; Enterprise-Ready</a:t>
            </a:r>
            <a:r>
              <a:rPr lang="en-IN" sz="1800" dirty="0"/>
              <a:t> – Built on </a:t>
            </a:r>
            <a:r>
              <a:rPr lang="en-IN" sz="1800" b="1" dirty="0"/>
              <a:t>IBM watsonx.ai</a:t>
            </a:r>
            <a:r>
              <a:rPr lang="en-IN" sz="1800" dirty="0"/>
              <a:t> with </a:t>
            </a:r>
            <a:r>
              <a:rPr lang="en-IN" sz="1800" b="1" dirty="0"/>
              <a:t>IBM Granite models</a:t>
            </a:r>
            <a:r>
              <a:rPr lang="en-IN" sz="1800" dirty="0"/>
              <a:t>, ensuring reliability and governance. </a:t>
            </a:r>
          </a:p>
          <a:p>
            <a:endParaRPr lang="en-IN" sz="1800" dirty="0"/>
          </a:p>
          <a:p>
            <a:r>
              <a:rPr lang="en-US" sz="1800" dirty="0"/>
              <a:t>This makes the solution a </a:t>
            </a:r>
            <a:r>
              <a:rPr lang="en-US" sz="1800" b="1" dirty="0"/>
              <a:t>smart, adaptive, and proactive digital career counselor, </a:t>
            </a:r>
            <a:r>
              <a:rPr lang="en-US" sz="1800" dirty="0"/>
              <a:t>not just a static career recommendation tool.</a:t>
            </a:r>
            <a:endParaRPr lang="en-IN" sz="1800" dirty="0"/>
          </a:p>
        </p:txBody>
      </p:sp>
    </p:spTree>
    <p:extLst>
      <p:ext uri="{BB962C8B-B14F-4D97-AF65-F5344CB8AC3E}">
        <p14:creationId xmlns:p14="http://schemas.microsoft.com/office/powerpoint/2010/main" val="232528227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7BB3C0CA-2F24-30DF-1D65-4440B864F08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187EEB9C-2E84-113A-3CE6-1507BF5B039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a:sym typeface="Times New Roman"/>
              </a:rPr>
              <a:t>Git Hub Link</a:t>
            </a:r>
            <a:endParaRPr sz="2400" b="1" dirty="0">
              <a:sym typeface="Times New Roman"/>
            </a:endParaRPr>
          </a:p>
        </p:txBody>
      </p:sp>
      <p:sp>
        <p:nvSpPr>
          <p:cNvPr id="279" name="Google Shape;279;p18">
            <a:extLst>
              <a:ext uri="{FF2B5EF4-FFF2-40B4-BE49-F238E27FC236}">
                <a16:creationId xmlns:a16="http://schemas.microsoft.com/office/drawing/2014/main" id="{3711AF54-94A6-B837-31EF-9A8C4ECB9AF6}"/>
              </a:ext>
            </a:extLst>
          </p:cNvPr>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 Please create public </a:t>
            </a:r>
            <a:r>
              <a:rPr lang="en-US" sz="1850" b="0" i="0" u="none" strike="noStrike" cap="none" dirty="0" err="1">
                <a:solidFill>
                  <a:srgbClr val="2B3541"/>
                </a:solidFill>
                <a:latin typeface="Times New Roman"/>
                <a:ea typeface="Times New Roman"/>
                <a:cs typeface="Times New Roman"/>
                <a:sym typeface="Times New Roman"/>
              </a:rPr>
              <a:t>github</a:t>
            </a:r>
            <a:r>
              <a:rPr lang="en-US" sz="1850" b="0" i="0" u="none" strike="noStrike" cap="none" dirty="0">
                <a:solidFill>
                  <a:srgbClr val="2B3541"/>
                </a:solidFill>
                <a:latin typeface="Times New Roman"/>
                <a:ea typeface="Times New Roman"/>
                <a:cs typeface="Times New Roman"/>
                <a:sym typeface="Times New Roman"/>
              </a:rPr>
              <a:t> repository (Enable Add README  button while creating repository) with format – </a:t>
            </a:r>
          </a:p>
          <a:p>
            <a:pPr lvl="0">
              <a:lnSpc>
                <a:spcPct val="162162"/>
              </a:lnSpc>
              <a:buClr>
                <a:srgbClr val="2B3541"/>
              </a:buClr>
              <a:buSzPts val="1850"/>
            </a:pPr>
            <a:r>
              <a:rPr lang="en-US" sz="1850" dirty="0">
                <a:solidFill>
                  <a:srgbClr val="2B3541"/>
                </a:solidFill>
                <a:latin typeface="Times New Roman"/>
                <a:ea typeface="Times New Roman"/>
                <a:cs typeface="Times New Roman"/>
                <a:sym typeface="Times New Roman"/>
              </a:rPr>
              <a:t>Please test and Paste the working  </a:t>
            </a:r>
            <a:r>
              <a:rPr lang="en-US" sz="1850" dirty="0" err="1">
                <a:solidFill>
                  <a:srgbClr val="2B3541"/>
                </a:solidFill>
                <a:latin typeface="Times New Roman"/>
                <a:ea typeface="Times New Roman"/>
                <a:cs typeface="Times New Roman"/>
                <a:sym typeface="Times New Roman"/>
              </a:rPr>
              <a:t>Github</a:t>
            </a:r>
            <a:r>
              <a:rPr lang="en-US" sz="1850" dirty="0">
                <a:solidFill>
                  <a:srgbClr val="2B3541"/>
                </a:solidFill>
                <a:latin typeface="Times New Roman"/>
                <a:ea typeface="Times New Roman"/>
                <a:cs typeface="Times New Roman"/>
                <a:sym typeface="Times New Roman"/>
              </a:rPr>
              <a:t> URL – </a:t>
            </a:r>
            <a:r>
              <a:rPr lang="en-US" sz="1850" b="1" dirty="0">
                <a:solidFill>
                  <a:srgbClr val="2B3541"/>
                </a:solidFill>
                <a:latin typeface="Times New Roman"/>
                <a:ea typeface="Times New Roman"/>
                <a:cs typeface="Times New Roman"/>
                <a:sym typeface="Times New Roman"/>
                <a:hlinkClick r:id="rId3"/>
              </a:rPr>
              <a:t>https://github.com/325bhagyalaxmi-lang/Agentic_career_counselling_companion</a:t>
            </a:r>
            <a:endParaRPr lang="en-US" sz="1850" b="1" dirty="0">
              <a:solidFill>
                <a:srgbClr val="2B3541"/>
              </a:solidFill>
              <a:latin typeface="Times New Roman"/>
              <a:ea typeface="Times New Roman"/>
              <a:cs typeface="Times New Roman"/>
              <a:sym typeface="Times New Roman"/>
            </a:endParaRPr>
          </a:p>
          <a:p>
            <a:pPr lvl="0">
              <a:lnSpc>
                <a:spcPct val="162162"/>
              </a:lnSpc>
              <a:buClr>
                <a:srgbClr val="2B3541"/>
              </a:buClr>
              <a:buSzPts val="1850"/>
            </a:pPr>
            <a:endParaRPr lang="en-US" sz="1850" b="1" dirty="0">
              <a:solidFill>
                <a:srgbClr val="2B3541"/>
              </a:solidFill>
              <a:latin typeface="Times New Roman"/>
              <a:ea typeface="Times New Roman"/>
              <a:cs typeface="Times New Roman"/>
              <a:sym typeface="Times New Roman"/>
            </a:endParaRPr>
          </a:p>
          <a:p>
            <a:pPr lvl="0">
              <a:lnSpc>
                <a:spcPct val="162162"/>
              </a:lnSpc>
              <a:buClr>
                <a:srgbClr val="2B3541"/>
              </a:buClr>
              <a:buSzPts val="1850"/>
            </a:pPr>
            <a:r>
              <a:rPr lang="en-US" sz="1850" b="1" dirty="0">
                <a:solidFill>
                  <a:srgbClr val="2B3541"/>
                </a:solidFill>
                <a:latin typeface="Times New Roman"/>
                <a:ea typeface="Times New Roman"/>
                <a:cs typeface="Times New Roman"/>
                <a:sym typeface="Times New Roman"/>
              </a:rPr>
              <a:t>Make sure you have Uploaded following three files into your </a:t>
            </a:r>
            <a:r>
              <a:rPr lang="en-US" sz="1850" b="1" dirty="0" err="1">
                <a:solidFill>
                  <a:srgbClr val="2B3541"/>
                </a:solidFill>
                <a:latin typeface="Times New Roman"/>
                <a:ea typeface="Times New Roman"/>
                <a:cs typeface="Times New Roman"/>
                <a:sym typeface="Times New Roman"/>
              </a:rPr>
              <a:t>github</a:t>
            </a:r>
            <a:r>
              <a:rPr lang="en-US" sz="1850" b="1" dirty="0">
                <a:solidFill>
                  <a:srgbClr val="2B3541"/>
                </a:solidFill>
                <a:latin typeface="Times New Roman"/>
                <a:ea typeface="Times New Roman"/>
                <a:cs typeface="Times New Roman"/>
                <a:sym typeface="Times New Roman"/>
              </a:rPr>
              <a:t> repository  </a:t>
            </a:r>
            <a:br>
              <a:rPr lang="en-US" sz="1850" dirty="0">
                <a:solidFill>
                  <a:srgbClr val="2B3541"/>
                </a:solidFill>
                <a:latin typeface="Times New Roman"/>
                <a:ea typeface="Times New Roman"/>
                <a:cs typeface="Times New Roman"/>
                <a:sym typeface="Times New Roman"/>
              </a:rPr>
            </a:br>
            <a:r>
              <a:rPr lang="en-US" sz="1850" dirty="0">
                <a:solidFill>
                  <a:srgbClr val="2B3541"/>
                </a:solidFill>
                <a:latin typeface="Times New Roman"/>
                <a:ea typeface="Times New Roman"/>
                <a:cs typeface="Times New Roman"/>
                <a:sym typeface="Times New Roman"/>
              </a:rPr>
              <a:t>1) All Agent relevant files of IBM Cloud , 2) yourproblemstatement.pdf file  3) your projectpresntation.pptx file 4)any other files </a:t>
            </a:r>
          </a:p>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E228982D-BF81-530A-CBA1-E897A3CA8EF7}"/>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7BC356B8-92F8-3187-D065-667AACF68E72}"/>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1558A011-60D6-B010-6117-1B9F7C786B2B}"/>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404041227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a:sym typeface="Times New Roman"/>
              </a:rPr>
              <a:t>Future Scope </a:t>
            </a:r>
            <a:endParaRPr sz="2400" b="1" dirty="0">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1218724" y="1221715"/>
            <a:ext cx="9214580" cy="4277001"/>
          </a:xfrm>
          <a:prstGeom prst="rect">
            <a:avLst/>
          </a:prstGeom>
          <a:noFill/>
          <a:ln>
            <a:noFill/>
          </a:ln>
        </p:spPr>
        <p:txBody>
          <a:bodyPr spcFirstLastPara="1" wrap="square" lIns="0" tIns="0" rIns="0" bIns="0" anchor="t" anchorCtr="0">
            <a:noAutofit/>
          </a:bodyPr>
          <a:lstStyle/>
          <a:p>
            <a:pPr lvl="0">
              <a:lnSpc>
                <a:spcPct val="162162"/>
              </a:lnSpc>
              <a:buClr>
                <a:srgbClr val="2B3541"/>
              </a:buClr>
              <a:buSzPts val="1850"/>
            </a:pPr>
            <a:r>
              <a:rPr lang="en-US" sz="1850" b="1" dirty="0">
                <a:solidFill>
                  <a:srgbClr val="2B3541"/>
                </a:solidFill>
                <a:latin typeface="Times New Roman"/>
                <a:ea typeface="Times New Roman"/>
                <a:cs typeface="Times New Roman"/>
                <a:sym typeface="Times New Roman"/>
              </a:rPr>
              <a:t>1.Integration with Wearables &amp; Health Devices – </a:t>
            </a:r>
          </a:p>
          <a:p>
            <a:pPr lvl="0">
              <a:lnSpc>
                <a:spcPct val="162162"/>
              </a:lnSpc>
              <a:buClr>
                <a:srgbClr val="2B3541"/>
              </a:buClr>
              <a:buSzPts val="1850"/>
            </a:pPr>
            <a:r>
              <a:rPr lang="en-US" sz="1850" dirty="0">
                <a:solidFill>
                  <a:srgbClr val="2B3541"/>
                </a:solidFill>
                <a:latin typeface="Times New Roman"/>
                <a:ea typeface="Times New Roman"/>
                <a:cs typeface="Times New Roman"/>
                <a:sym typeface="Times New Roman"/>
              </a:rPr>
              <a:t>The system can be integrated with smartwatches and fitness trackers to collect real-time data such as steps, calories burned, heart rate, and sleep patterns. This will enable the Nutrition Agent to provide more accurate and dynamic diet recommendations based on actual user activity and health metrics.</a:t>
            </a:r>
          </a:p>
          <a:p>
            <a:pPr lvl="0">
              <a:lnSpc>
                <a:spcPct val="162162"/>
              </a:lnSpc>
              <a:buClr>
                <a:srgbClr val="2B3541"/>
              </a:buClr>
              <a:buSzPts val="1850"/>
            </a:pPr>
            <a:r>
              <a:rPr lang="en-US" sz="1850" b="1" dirty="0">
                <a:solidFill>
                  <a:srgbClr val="2B3541"/>
                </a:solidFill>
                <a:latin typeface="Times New Roman"/>
                <a:ea typeface="Times New Roman"/>
                <a:cs typeface="Times New Roman"/>
                <a:sym typeface="Times New Roman"/>
              </a:rPr>
              <a:t>2.AI-Powered Voice Assistant &amp; Multilingual Support </a:t>
            </a:r>
            <a:r>
              <a:rPr lang="en-US" sz="1850" dirty="0">
                <a:solidFill>
                  <a:srgbClr val="2B3541"/>
                </a:solidFill>
                <a:latin typeface="Times New Roman"/>
                <a:ea typeface="Times New Roman"/>
                <a:cs typeface="Times New Roman"/>
                <a:sym typeface="Times New Roman"/>
              </a:rPr>
              <a:t>– </a:t>
            </a:r>
          </a:p>
          <a:p>
            <a:pPr lvl="0">
              <a:lnSpc>
                <a:spcPct val="162162"/>
              </a:lnSpc>
              <a:buClr>
                <a:srgbClr val="2B3541"/>
              </a:buClr>
              <a:buSzPts val="1850"/>
            </a:pPr>
            <a:r>
              <a:rPr lang="en-US" sz="1850" dirty="0">
                <a:solidFill>
                  <a:srgbClr val="2B3541"/>
                </a:solidFill>
                <a:latin typeface="Times New Roman"/>
                <a:ea typeface="Times New Roman"/>
                <a:cs typeface="Times New Roman"/>
                <a:sym typeface="Times New Roman"/>
              </a:rPr>
              <a:t>Enhancing the system with a voice-enabled assistant and support for multiple languages will improve accessibility. Users can interact naturally in their preferred language, making the solution more inclusive and suitable for diverse populations, especially in regions with varied linguistic backgrounds.</a:t>
            </a:r>
            <a:endParaRPr lang="en-US" sz="1850" dirty="0">
              <a:latin typeface="Times New Roman"/>
              <a:ea typeface="Times New Roman"/>
              <a:cs typeface="Times New Roman"/>
              <a:sym typeface="Times New Roman"/>
            </a:endParaRPr>
          </a:p>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74002846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F1C7BCA-5DD7-F4D3-A937-D1C56976DA01}"/>
              </a:ext>
            </a:extLst>
          </p:cNvPr>
          <p:cNvSpPr txBox="1"/>
          <p:nvPr/>
        </p:nvSpPr>
        <p:spPr>
          <a:xfrm>
            <a:off x="327949" y="207380"/>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t>Certificates Earned:</a:t>
            </a:r>
          </a:p>
          <a:p>
            <a:pPr algn="ctr"/>
            <a:endParaRPr lang="en-US"/>
          </a:p>
        </p:txBody>
      </p:sp>
      <p:sp>
        <p:nvSpPr>
          <p:cNvPr id="3" name="TextBox 2">
            <a:extLst>
              <a:ext uri="{FF2B5EF4-FFF2-40B4-BE49-F238E27FC236}">
                <a16:creationId xmlns:a16="http://schemas.microsoft.com/office/drawing/2014/main" id="{4837D5EE-379B-FDC5-0854-8AC81D31FADF}"/>
              </a:ext>
            </a:extLst>
          </p:cNvPr>
          <p:cNvSpPr txBox="1"/>
          <p:nvPr/>
        </p:nvSpPr>
        <p:spPr>
          <a:xfrm>
            <a:off x="552048" y="690061"/>
            <a:ext cx="11453139"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t>Please  add your </a:t>
            </a:r>
            <a:r>
              <a:rPr lang="en-US" sz="2400" b="1" dirty="0" err="1"/>
              <a:t>credly</a:t>
            </a:r>
            <a:r>
              <a:rPr lang="en-US" sz="2400" b="1" dirty="0"/>
              <a:t> certificate(Getting Started with Artificial Intelligence)  </a:t>
            </a:r>
          </a:p>
        </p:txBody>
      </p:sp>
      <p:pic>
        <p:nvPicPr>
          <p:cNvPr id="4" name="Picture 3">
            <a:extLst>
              <a:ext uri="{FF2B5EF4-FFF2-40B4-BE49-F238E27FC236}">
                <a16:creationId xmlns:a16="http://schemas.microsoft.com/office/drawing/2014/main" id="{DB0DDF4A-7D3E-6969-87F7-11FCE08CE71B}"/>
              </a:ext>
            </a:extLst>
          </p:cNvPr>
          <p:cNvPicPr>
            <a:picLocks noChangeAspect="1"/>
          </p:cNvPicPr>
          <p:nvPr/>
        </p:nvPicPr>
        <p:blipFill>
          <a:blip r:embed="rId2"/>
          <a:stretch>
            <a:fillRect/>
          </a:stretch>
        </p:blipFill>
        <p:spPr>
          <a:xfrm>
            <a:off x="1694688" y="1556314"/>
            <a:ext cx="9006091" cy="5094305"/>
          </a:xfrm>
          <a:prstGeom prst="rect">
            <a:avLst/>
          </a:prstGeom>
        </p:spPr>
      </p:pic>
    </p:spTree>
    <p:extLst>
      <p:ext uri="{BB962C8B-B14F-4D97-AF65-F5344CB8AC3E}">
        <p14:creationId xmlns:p14="http://schemas.microsoft.com/office/powerpoint/2010/main" val="283348271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A8544A9-CF92-3FAF-D3EE-31DF90F7A64D}"/>
              </a:ext>
            </a:extLst>
          </p:cNvPr>
          <p:cNvSpPr txBox="1"/>
          <p:nvPr/>
        </p:nvSpPr>
        <p:spPr>
          <a:xfrm>
            <a:off x="176696" y="226391"/>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i="0" u="none" strike="noStrike" baseline="0">
                <a:solidFill>
                  <a:srgbClr val="000000"/>
                </a:solidFill>
                <a:latin typeface="Arial"/>
              </a:rPr>
              <a:t>Certificates Earned:</a:t>
            </a:r>
            <a:r>
              <a:rPr sz="2400" b="0" i="0">
                <a:solidFill>
                  <a:srgbClr val="000000"/>
                </a:solidFill>
                <a:latin typeface="Arial"/>
                <a:ea typeface="Arial"/>
                <a:cs typeface="Arial"/>
              </a:rPr>
              <a:t>​</a:t>
            </a:r>
            <a:endParaRPr lang="en-US"/>
          </a:p>
          <a:p>
            <a:pPr algn="ctr"/>
            <a:endParaRPr lang="en-US"/>
          </a:p>
        </p:txBody>
      </p:sp>
      <p:sp>
        <p:nvSpPr>
          <p:cNvPr id="6" name="TextBox 5">
            <a:extLst>
              <a:ext uri="{FF2B5EF4-FFF2-40B4-BE49-F238E27FC236}">
                <a16:creationId xmlns:a16="http://schemas.microsoft.com/office/drawing/2014/main" id="{C0D36B1A-26C2-CD55-1032-4CB5E4EDF305}"/>
              </a:ext>
            </a:extLst>
          </p:cNvPr>
          <p:cNvSpPr txBox="1"/>
          <p:nvPr/>
        </p:nvSpPr>
        <p:spPr>
          <a:xfrm>
            <a:off x="496843" y="800470"/>
            <a:ext cx="5437681"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a:t>Add your IBM BOB Certificate</a:t>
            </a:r>
          </a:p>
        </p:txBody>
      </p:sp>
      <p:pic>
        <p:nvPicPr>
          <p:cNvPr id="3" name="Picture 2">
            <a:extLst>
              <a:ext uri="{FF2B5EF4-FFF2-40B4-BE49-F238E27FC236}">
                <a16:creationId xmlns:a16="http://schemas.microsoft.com/office/drawing/2014/main" id="{812F1AD9-281C-A28F-0CF4-C36528D1F458}"/>
              </a:ext>
            </a:extLst>
          </p:cNvPr>
          <p:cNvPicPr>
            <a:picLocks noChangeAspect="1"/>
          </p:cNvPicPr>
          <p:nvPr/>
        </p:nvPicPr>
        <p:blipFill>
          <a:blip r:embed="rId2"/>
          <a:stretch>
            <a:fillRect/>
          </a:stretch>
        </p:blipFill>
        <p:spPr>
          <a:xfrm>
            <a:off x="2374205" y="1477578"/>
            <a:ext cx="7796981" cy="4896465"/>
          </a:xfrm>
          <a:prstGeom prst="rect">
            <a:avLst/>
          </a:prstGeom>
        </p:spPr>
      </p:pic>
    </p:spTree>
    <p:extLst>
      <p:ext uri="{BB962C8B-B14F-4D97-AF65-F5344CB8AC3E}">
        <p14:creationId xmlns:p14="http://schemas.microsoft.com/office/powerpoint/2010/main" val="417517770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extLst>
      <p:ext uri="{BB962C8B-B14F-4D97-AF65-F5344CB8AC3E}">
        <p14:creationId xmlns:p14="http://schemas.microsoft.com/office/powerpoint/2010/main" val="1440137342"/>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615</TotalTime>
  <Words>1412</Words>
  <Application>Microsoft Office PowerPoint</Application>
  <PresentationFormat>Widescreen</PresentationFormat>
  <Paragraphs>130</Paragraphs>
  <Slides>29</Slides>
  <Notes>16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29</vt:i4>
      </vt:variant>
    </vt:vector>
  </HeadingPairs>
  <TitlesOfParts>
    <vt:vector size="33"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Bhagyalaxmi Gudimella</cp:lastModifiedBy>
  <cp:revision>18</cp:revision>
  <dcterms:created xsi:type="dcterms:W3CDTF">2025-07-08T05:06:56Z</dcterms:created>
  <dcterms:modified xsi:type="dcterms:W3CDTF">2026-09-11T12:21:21Z</dcterms:modified>
</cp:coreProperties>
</file>